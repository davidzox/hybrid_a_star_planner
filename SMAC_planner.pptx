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5"/>
  </p:notesMasterIdLst>
  <p:sldIdLst>
    <p:sldId id="2147378705" r:id="rId2"/>
    <p:sldId id="2147378689" r:id="rId3"/>
    <p:sldId id="2147378690" r:id="rId4"/>
    <p:sldId id="2147378694" r:id="rId5"/>
    <p:sldId id="2147378695" r:id="rId6"/>
    <p:sldId id="2147378696" r:id="rId7"/>
    <p:sldId id="2147378697" r:id="rId8"/>
    <p:sldId id="2147378698" r:id="rId9"/>
    <p:sldId id="2147378699" r:id="rId10"/>
    <p:sldId id="2147378700" r:id="rId11"/>
    <p:sldId id="2147378701" r:id="rId12"/>
    <p:sldId id="2147378702" r:id="rId13"/>
    <p:sldId id="2147378703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B0F0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68D230F3-CF80-4859-8CE7-A43EE81993B5}" styleName="淺色樣式 1 - 輔色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823" autoAdjust="0"/>
    <p:restoredTop sz="94660"/>
  </p:normalViewPr>
  <p:slideViewPr>
    <p:cSldViewPr snapToGrid="0">
      <p:cViewPr varScale="1">
        <p:scale>
          <a:sx n="47" d="100"/>
          <a:sy n="47" d="100"/>
        </p:scale>
        <p:origin x="984" y="43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DF83C87-A95B-4173-A820-3FD3601EE312}" type="datetimeFigureOut">
              <a:rPr lang="zh-TW" altLang="en-US" smtClean="0"/>
              <a:t>2026/9/28</a:t>
            </a:fld>
            <a:endParaRPr lang="zh-TW" altLang="en-US"/>
          </a:p>
        </p:txBody>
      </p:sp>
      <p:sp>
        <p:nvSpPr>
          <p:cNvPr id="4" name="投影片影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1937C53-0467-423D-8D43-0893385CD01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1376354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CB99DA-023D-CAB1-5AEC-0EA1C6E373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07A07019-E61B-C52A-82CB-C9C495BAAB5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2044AA3B-CEC1-D5B4-7A40-BCD75FD2DCA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396AE692-85C3-B47F-C864-0930EC81064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1937C53-0467-423D-8D43-0893385CD01E}" type="slidenum">
              <a:rPr lang="zh-TW" altLang="en-US" smtClean="0"/>
              <a:t>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04531763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A80234-935F-71AC-6999-729B4DD8FD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0C22E19C-264C-2EFF-73E4-D9CF181C582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40F29F5C-7F2D-672F-85FA-73E2172F18C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3E5C3AA9-9688-023E-3114-236C8D42CC2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1937C53-0467-423D-8D43-0893385CD01E}" type="slidenum">
              <a:rPr lang="zh-TW" altLang="en-US" smtClean="0"/>
              <a:t>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00762153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645167-414B-292B-9DD8-60507D114A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B5584406-5444-BE6C-A2C8-D3F6B06D71E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822E12B7-0AE4-D507-B3F4-BA48CC5D24F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A0604CD8-2798-42C9-9DA9-09E3238435D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1937C53-0467-423D-8D43-0893385CD01E}" type="slidenum">
              <a:rPr lang="zh-TW" altLang="en-US" smtClean="0"/>
              <a:t>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46826386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C349E8-D5E1-A5BD-86A4-AF51E0D232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F5110195-4DA5-740D-696A-FCCF246A3B2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5C005629-4AFC-5B94-C50F-A5E76571DAA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C386E7A1-E913-6B9B-C865-198E8A4FF16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1937C53-0467-423D-8D43-0893385CD01E}" type="slidenum">
              <a:rPr lang="zh-TW" altLang="en-US" smtClean="0"/>
              <a:t>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3346230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DBFD20-E7CD-E716-6E4C-CCA9671280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76E79957-E0D9-DBFC-FE2E-A17B111040B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AEE68A02-318D-6608-BFC1-1C5C0D50DD1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7FB0AAA-69B0-6634-90B3-3A9BB4EA267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1937C53-0467-423D-8D43-0893385CD01E}" type="slidenum">
              <a:rPr lang="zh-TW" altLang="en-US" smtClean="0"/>
              <a:t>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51950228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FD247B-39BF-3F67-2DCA-EA5773A5EF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2F8249FE-8FAC-7944-C47F-8A124A588A1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2C2776CA-531B-C208-0B0B-5758C043765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1A9A9408-15B4-A997-AE40-C667A006896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1937C53-0467-423D-8D43-0893385CD01E}" type="slidenum">
              <a:rPr lang="zh-TW" altLang="en-US" smtClean="0"/>
              <a:t>6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0788080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0ED0FE-4D00-9B44-0FDE-500307686C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84FBB285-DF07-77B2-4BBA-9C880C722EC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1126717E-6135-F568-5344-4A0B075B0C2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4B11CBC8-CD4E-8239-1AE0-EB7DD4CCD5A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1937C53-0467-423D-8D43-0893385CD01E}" type="slidenum">
              <a:rPr lang="zh-TW" altLang="en-US" smtClean="0"/>
              <a:t>7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13542465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030C67-8BBB-974E-9501-87849116B7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A648BA58-9BF6-EE2F-40E3-58F05C4D50A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10E59720-1428-BD9C-1612-75483AC8D61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05BBD5A9-C05D-7A35-B6D2-B28009C26F8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1937C53-0467-423D-8D43-0893385CD01E}" type="slidenum">
              <a:rPr lang="zh-TW" altLang="en-US" smtClean="0"/>
              <a:t>8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44325857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D230AE-D281-88A6-55C1-949D97A7FC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D3DEEE44-FB4B-7536-BFF9-970B5B3DB80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CAE20A6C-C807-0C93-BCBD-040F6685A4F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D7BB5ED0-DCCE-0B59-B990-CEEFF06D55D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1937C53-0467-423D-8D43-0893385CD01E}" type="slidenum">
              <a:rPr lang="zh-TW" altLang="en-US" smtClean="0"/>
              <a:t>9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5057137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3C6E9F-1F91-46D3-4E7B-24FE134AEC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AEC5A41C-C08E-2D98-463A-81FE3A3CB82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D840AF07-E9E3-FA3D-38F0-426C6338EAF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4C2F5C11-DDC8-3ED0-37D3-3B4D2587973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1937C53-0467-423D-8D43-0893385CD01E}" type="slidenum">
              <a:rPr lang="zh-TW" altLang="en-US" smtClean="0"/>
              <a:t>10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58042275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F95DCD-2A1D-2675-C15E-B42201241E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B1E4EFC8-ADAB-FE73-EE24-D04618A0BF5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D29BB64A-89C3-C897-8BE0-FE5282EB24A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C6A4D688-0A07-9458-9D41-855DD0955C5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1937C53-0467-423D-8D43-0893385CD01E}" type="slidenum">
              <a:rPr lang="zh-TW" altLang="en-US" smtClean="0"/>
              <a:t>11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3205994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AA5B65-D8F5-8948-4D91-FC6E60FBEC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BD828EE9-01DC-6AFA-DCBB-11B2DC415E1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56C34691-1608-1228-C70B-87DF71224B7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6D7515FE-1740-10DE-45D6-8FF993BC6CB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1937C53-0467-423D-8D43-0893385CD01E}" type="slidenum">
              <a:rPr lang="zh-TW" altLang="en-US" smtClean="0"/>
              <a:t>12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44612836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F11F6B-EF6C-AA00-8764-483A08CCBC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E07B0DCE-747D-ADCF-A5AB-AB8D46D52A6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E5D1BDB9-870D-EC7A-C47A-0646C6F6DF5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41F6AB9B-1006-A716-7573-04176902C2E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1937C53-0467-423D-8D43-0893385CD01E}" type="slidenum">
              <a:rPr lang="zh-TW" altLang="en-US" smtClean="0"/>
              <a:t>13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21888519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0693" y="1769540"/>
            <a:ext cx="9440034" cy="1828801"/>
          </a:xfrm>
        </p:spPr>
        <p:txBody>
          <a:bodyPr anchor="b">
            <a:normAutofit/>
          </a:bodyPr>
          <a:lstStyle>
            <a:lvl1pPr algn="ctr">
              <a:defRPr sz="54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0693" y="3598339"/>
            <a:ext cx="9440034" cy="1049867"/>
          </a:xfrm>
        </p:spPr>
        <p:txBody>
          <a:bodyPr anchor="t"/>
          <a:lstStyle>
            <a:lvl1pPr marL="0" indent="0" algn="ct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/>
              <a:t>按一下以編輯母片子標題樣式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6E6D35-2F73-483B-B5A7-B3D81D46758D}" type="datetimeFigureOut">
              <a:rPr lang="zh-TW" altLang="en-US" smtClean="0"/>
              <a:t>2026/9/28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2F833C-9883-45C7-8E2F-6D2EB59D59B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0703143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6E6D35-2F73-483B-B5A7-B3D81D46758D}" type="datetimeFigureOut">
              <a:rPr lang="zh-TW" altLang="en-US" smtClean="0"/>
              <a:t>2026/9/28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2F833C-9883-45C7-8E2F-6D2EB59D59B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7556745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1761067"/>
            <a:ext cx="9590550" cy="1828813"/>
          </a:xfrm>
        </p:spPr>
        <p:txBody>
          <a:bodyPr anchor="b"/>
          <a:lstStyle>
            <a:lvl1pPr algn="ctr">
              <a:defRPr sz="4000" b="0" cap="none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3589879"/>
            <a:ext cx="9590550" cy="1507054"/>
          </a:xfrm>
        </p:spPr>
        <p:txBody>
          <a:bodyPr anchor="t"/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6E6D35-2F73-483B-B5A7-B3D81D46758D}" type="datetimeFigureOut">
              <a:rPr lang="zh-TW" altLang="en-US" smtClean="0"/>
              <a:t>2026/9/28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2F833C-9883-45C7-8E2F-6D2EB59D59B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4203587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13795" y="1732449"/>
            <a:ext cx="5060497" cy="4058750"/>
          </a:xfrm>
        </p:spPr>
        <p:txBody>
          <a:bodyPr anchor="t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2892" y="1732449"/>
            <a:ext cx="5064665" cy="4058751"/>
          </a:xfrm>
        </p:spPr>
        <p:txBody>
          <a:bodyPr anchor="t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6E6D35-2F73-483B-B5A7-B3D81D46758D}" type="datetimeFigureOut">
              <a:rPr lang="zh-TW" altLang="en-US" smtClean="0"/>
              <a:t>2026/9/28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2F833C-9883-45C7-8E2F-6D2EB59D59B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6475099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 descr="Slate-V2-HD-comp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3795" y="1734506"/>
            <a:ext cx="5089072" cy="4148769"/>
          </a:xfrm>
          <a:prstGeom prst="rect">
            <a:avLst/>
          </a:prstGeom>
        </p:spPr>
      </p:pic>
      <p:pic>
        <p:nvPicPr>
          <p:cNvPr id="21" name="Picture 20" descr="Slate-V2-HD-comp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8485" y="1734506"/>
            <a:ext cx="5089072" cy="4148769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05872" y="1835254"/>
            <a:ext cx="4876344" cy="544884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05872" y="2380137"/>
            <a:ext cx="4876344" cy="341106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94967" y="1835254"/>
            <a:ext cx="4895330" cy="544883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94967" y="2380137"/>
            <a:ext cx="4895330" cy="341106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6E6D35-2F73-483B-B5A7-B3D81D46758D}" type="datetimeFigureOut">
              <a:rPr lang="zh-TW" altLang="en-US" smtClean="0"/>
              <a:t>2026/9/28</a:t>
            </a:fld>
            <a:endParaRPr lang="zh-TW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2F833C-9883-45C7-8E2F-6D2EB59D59B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0117530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6E6D35-2F73-483B-B5A7-B3D81D46758D}" type="datetimeFigureOut">
              <a:rPr lang="zh-TW" altLang="en-US" smtClean="0"/>
              <a:t>2026/9/28</a:t>
            </a:fld>
            <a:endParaRPr lang="zh-TW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2F833C-9883-45C7-8E2F-6D2EB59D59B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5899657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6E6D35-2F73-483B-B5A7-B3D81D46758D}" type="datetimeFigureOut">
              <a:rPr lang="zh-TW" altLang="en-US" smtClean="0"/>
              <a:t>2026/9/28</a:t>
            </a:fld>
            <a:endParaRPr lang="zh-TW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2F833C-9883-45C7-8E2F-6D2EB59D59B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072298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3706889" cy="182191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55633" y="609600"/>
            <a:ext cx="6411924" cy="5181600"/>
          </a:xfrm>
        </p:spPr>
        <p:txBody>
          <a:bodyPr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2431518"/>
            <a:ext cx="3706889" cy="3359681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6E6D35-2F73-483B-B5A7-B3D81D46758D}" type="datetimeFigureOut">
              <a:rPr lang="zh-TW" altLang="en-US" smtClean="0"/>
              <a:t>2026/9/28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2F833C-9883-45C7-8E2F-6D2EB59D59B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6087995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Picture 21" descr="Slate-V2-HD-vert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93665" y="609600"/>
            <a:ext cx="3584166" cy="520483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923"/>
            <a:ext cx="5934949" cy="1829338"/>
          </a:xfrm>
        </p:spPr>
        <p:txBody>
          <a:bodyPr anchor="b">
            <a:noAutofit/>
          </a:bodyPr>
          <a:lstStyle>
            <a:lvl1pPr algn="ctr">
              <a:defRPr sz="3200" b="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42551" y="763702"/>
            <a:ext cx="3275751" cy="4912822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zh-TW" altLang="en-US"/>
              <a:t>按一下圖示以新增圖片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2439261"/>
            <a:ext cx="5934949" cy="337613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6E6D35-2F73-483B-B5A7-B3D81D46758D}" type="datetimeFigureOut">
              <a:rPr lang="zh-TW" altLang="en-US" smtClean="0"/>
              <a:t>2026/9/28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2F833C-9883-45C7-8E2F-6D2EB59D59B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7772049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全景圖片 (含輔助字幕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Slate-V2-HD-pano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883" y="547807"/>
            <a:ext cx="10141799" cy="3816806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4565255"/>
            <a:ext cx="10355326" cy="543472"/>
          </a:xfrm>
        </p:spPr>
        <p:txBody>
          <a:bodyPr anchor="b">
            <a:normAutofit/>
          </a:bodyPr>
          <a:lstStyle>
            <a:lvl1pPr algn="ctr">
              <a:defRPr sz="28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69349" y="695009"/>
            <a:ext cx="9845346" cy="3525671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2000"/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TW" altLang="en-US"/>
              <a:t>按一下圖示以新增圖片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5108728"/>
            <a:ext cx="10353762" cy="682472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6E6D35-2F73-483B-B5A7-B3D81D46758D}" type="datetimeFigureOut">
              <a:rPr lang="zh-TW" altLang="en-US" smtClean="0"/>
              <a:t>2026/9/28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2F833C-9883-45C7-8E2F-6D2EB59D59B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3218389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標題與輔助字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8437"/>
            <a:ext cx="10353762" cy="353434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295180"/>
            <a:ext cx="10353763" cy="1501826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6E6D35-2F73-483B-B5A7-B3D81D46758D}" type="datetimeFigureOut">
              <a:rPr lang="zh-TW" altLang="en-US" smtClean="0"/>
              <a:t>2026/9/28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2F833C-9883-45C7-8E2F-6D2EB59D59B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99159767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引述 (含輔助字幕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532749"/>
          </a:xfrm>
        </p:spPr>
        <p:txBody>
          <a:bodyPr anchor="t">
            <a:normAutofit/>
          </a:bodyPr>
          <a:lstStyle>
            <a:lvl1pPr marL="0" indent="0" algn="r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304353"/>
            <a:ext cx="10353763" cy="1489496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6E6D35-2F73-483B-B5A7-B3D81D46758D}" type="datetimeFigureOut">
              <a:rPr lang="zh-TW" altLang="en-US" smtClean="0"/>
              <a:t>2026/9/28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2F833C-9883-45C7-8E2F-6D2EB59D59B5}" type="slidenum">
              <a:rPr lang="zh-TW" altLang="en-US" smtClean="0"/>
              <a:t>‹#›</a:t>
            </a:fld>
            <a:endParaRPr lang="zh-TW" altLang="en-US"/>
          </a:p>
        </p:txBody>
      </p:sp>
      <p:sp>
        <p:nvSpPr>
          <p:cNvPr id="11" name="TextBox 10"/>
          <p:cNvSpPr txBox="1"/>
          <p:nvPr/>
        </p:nvSpPr>
        <p:spPr>
          <a:xfrm>
            <a:off x="990600" y="88479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04716" y="292825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86013657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名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4" y="2126942"/>
            <a:ext cx="10353763" cy="25118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84" y="4650556"/>
            <a:ext cx="10352199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6E6D35-2F73-483B-B5A7-B3D81D46758D}" type="datetimeFigureOut">
              <a:rPr lang="zh-TW" altLang="en-US" smtClean="0"/>
              <a:t>2026/9/28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2F833C-9883-45C7-8E2F-6D2EB59D59B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21094074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95" y="1885950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95" y="2571750"/>
            <a:ext cx="3300984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6711" y="1885950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1435" y="2571750"/>
            <a:ext cx="3300984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66572" y="1885950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66572" y="2571750"/>
            <a:ext cx="3300984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6E6D35-2F73-483B-B5A7-B3D81D46758D}" type="datetimeFigureOut">
              <a:rPr lang="zh-TW" altLang="en-US" smtClean="0"/>
              <a:t>2026/9/28</a:t>
            </a:fld>
            <a:endParaRPr lang="zh-TW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2F833C-9883-45C7-8E2F-6D2EB59D59B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55952474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圖片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7962" y="1818214"/>
            <a:ext cx="3339972" cy="1847851"/>
          </a:xfrm>
          <a:prstGeom prst="rect">
            <a:avLst/>
          </a:prstGeom>
        </p:spPr>
      </p:pic>
      <p:pic>
        <p:nvPicPr>
          <p:cNvPr id="36" name="Picture 35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03800" y="1818214"/>
            <a:ext cx="3339972" cy="1847851"/>
          </a:xfrm>
          <a:prstGeom prst="rect">
            <a:avLst/>
          </a:prstGeom>
        </p:spPr>
      </p:pic>
      <p:pic>
        <p:nvPicPr>
          <p:cNvPr id="37" name="Picture 36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6051" y="1818214"/>
            <a:ext cx="3339972" cy="1847851"/>
          </a:xfrm>
          <a:prstGeom prst="rect">
            <a:avLst/>
          </a:prstGeom>
        </p:spPr>
      </p:pic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94" y="609600"/>
            <a:ext cx="10353763" cy="970450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95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018102" y="1938918"/>
            <a:ext cx="3092368" cy="160295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zh-TW" altLang="en-US"/>
              <a:t>按一下圖示以新增圖片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95" y="4480368"/>
            <a:ext cx="3300984" cy="1310833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88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545743" y="1939094"/>
            <a:ext cx="3092368" cy="160816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zh-TW" altLang="en-US"/>
              <a:t>按一下圖示以新增圖片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435" y="4480367"/>
            <a:ext cx="3300984" cy="1310833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66697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075698" y="1934432"/>
            <a:ext cx="3092368" cy="160729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zh-TW" altLang="en-US"/>
              <a:t>按一下圖示以新增圖片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66572" y="4480365"/>
            <a:ext cx="3300984" cy="131083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6E6D35-2F73-483B-B5A7-B3D81D46758D}" type="datetimeFigureOut">
              <a:rPr lang="zh-TW" altLang="en-US" smtClean="0"/>
              <a:t>2026/9/28</a:t>
            </a:fld>
            <a:endParaRPr lang="zh-TW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2F833C-9883-45C7-8E2F-6D2EB59D59B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0522416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6E6D35-2F73-483B-B5A7-B3D81D46758D}" type="datetimeFigureOut">
              <a:rPr lang="zh-TW" altLang="en-US" smtClean="0"/>
              <a:t>2026/9/28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2F833C-9883-45C7-8E2F-6D2EB59D59B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52605317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83068" y="609599"/>
            <a:ext cx="2284487" cy="5181601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3796" y="609599"/>
            <a:ext cx="7916872" cy="5181601"/>
          </a:xfrm>
        </p:spPr>
        <p:txBody>
          <a:bodyPr vert="eaVert" anchor="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6E6D35-2F73-483B-B5A7-B3D81D46758D}" type="datetimeFigureOut">
              <a:rPr lang="zh-TW" altLang="en-US" smtClean="0"/>
              <a:t>2026/9/28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2F833C-9883-45C7-8E2F-6D2EB59D59B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1074096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" Target="../slides/slide2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95" y="1732449"/>
            <a:ext cx="10353762" cy="4058751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6" y="58832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AF6E6D35-2F73-483B-B5A7-B3D81D46758D}" type="datetimeFigureOut">
              <a:rPr lang="zh-TW" altLang="en-US" smtClean="0"/>
              <a:t>2026/9/28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95" y="5883275"/>
            <a:ext cx="667286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5883275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502F833C-9883-45C7-8E2F-6D2EB59D59B5}" type="slidenum">
              <a:rPr lang="zh-TW" altLang="en-US" smtClean="0"/>
              <a:t>‹#›</a:t>
            </a:fld>
            <a:endParaRPr lang="zh-TW" altLang="en-US"/>
          </a:p>
        </p:txBody>
      </p:sp>
      <p:sp>
        <p:nvSpPr>
          <p:cNvPr id="7" name="矩形: 按鈕形 6">
            <a:hlinkClick r:id="rId19" action="ppaction://hlinksldjump"/>
            <a:extLst>
              <a:ext uri="{FF2B5EF4-FFF2-40B4-BE49-F238E27FC236}">
                <a16:creationId xmlns:a16="http://schemas.microsoft.com/office/drawing/2014/main" id="{99D2C7D5-BE0B-E1C6-9EA1-ECC1DD6B7316}"/>
              </a:ext>
            </a:extLst>
          </p:cNvPr>
          <p:cNvSpPr/>
          <p:nvPr userDrawn="1"/>
        </p:nvSpPr>
        <p:spPr>
          <a:xfrm>
            <a:off x="11406909" y="6613236"/>
            <a:ext cx="785091" cy="244764"/>
          </a:xfrm>
          <a:prstGeom prst="bevel">
            <a:avLst/>
          </a:prstGeom>
          <a:solidFill>
            <a:schemeClr val="bg1">
              <a:lumMod val="95000"/>
              <a:lumOff val="5000"/>
            </a:schemeClr>
          </a:solidFill>
          <a:ln>
            <a:solidFill>
              <a:schemeClr val="tx2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1000" dirty="0"/>
              <a:t>返回目錄</a:t>
            </a:r>
          </a:p>
        </p:txBody>
      </p:sp>
    </p:spTree>
    <p:extLst>
      <p:ext uri="{BB962C8B-B14F-4D97-AF65-F5344CB8AC3E}">
        <p14:creationId xmlns:p14="http://schemas.microsoft.com/office/powerpoint/2010/main" val="3213404834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0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j-lt"/>
          <a:ea typeface="+mj-ea"/>
          <a:cs typeface="Trebuchet M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20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1pPr>
      <a:lvl2pPr marL="72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18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2pPr>
      <a:lvl3pPr marL="102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6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3pPr>
      <a:lvl4pPr marL="138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4pPr>
      <a:lvl5pPr marL="1674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5pPr>
      <a:lvl6pPr marL="20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6pPr>
      <a:lvl7pPr marL="240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7pPr>
      <a:lvl8pPr marL="278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8pPr>
      <a:lvl9pPr marL="310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AACAFB-0276-2ACA-F260-ECEBA681B8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4337F26-ABB0-DE77-F110-017A1F65800F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2192000" cy="549275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ctr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3200" kern="1200">
                <a:solidFill>
                  <a:srgbClr val="008CD6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Segoe UI" panose="020B0502040204020203" pitchFamily="34" charset="0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29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軟正黑體" panose="020B0604030504040204" pitchFamily="34" charset="-120"/>
              <a:ea typeface="微軟正黑體" panose="020B0604030504040204" pitchFamily="34" charset="-120"/>
              <a:cs typeface="Segoe UI" panose="020B0502040204020203" pitchFamily="34" charset="0"/>
            </a:endParaRPr>
          </a:p>
        </p:txBody>
      </p:sp>
      <p:sp>
        <p:nvSpPr>
          <p:cNvPr id="3" name="標題 1">
            <a:extLst>
              <a:ext uri="{FF2B5EF4-FFF2-40B4-BE49-F238E27FC236}">
                <a16:creationId xmlns:a16="http://schemas.microsoft.com/office/drawing/2014/main" id="{1E3EF024-CE2C-5A83-4D1C-58E65CEB3450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2192000" cy="549275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ctr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3200" kern="1200">
                <a:solidFill>
                  <a:srgbClr val="008CD6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Segoe UI" panose="020B0502040204020203" pitchFamily="34" charset="0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29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軟正黑體" panose="020B0604030504040204" pitchFamily="34" charset="-120"/>
              <a:ea typeface="微軟正黑體" panose="020B0604030504040204" pitchFamily="34" charset="-120"/>
              <a:cs typeface="Segoe UI" panose="020B0502040204020203" pitchFamily="34" charset="0"/>
            </a:endParaRPr>
          </a:p>
        </p:txBody>
      </p:sp>
      <p:sp>
        <p:nvSpPr>
          <p:cNvPr id="4" name="標題 1">
            <a:extLst>
              <a:ext uri="{FF2B5EF4-FFF2-40B4-BE49-F238E27FC236}">
                <a16:creationId xmlns:a16="http://schemas.microsoft.com/office/drawing/2014/main" id="{46502DAA-9200-9009-220A-B86FFF4FFCF9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2192000" cy="549275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ctr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3200" kern="1200">
                <a:solidFill>
                  <a:srgbClr val="008CD6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Segoe UI" panose="020B0502040204020203" pitchFamily="34" charset="0"/>
              </a:defRPr>
            </a:lvl1pPr>
          </a:lstStyle>
          <a:p>
            <a:pPr lvl="0">
              <a:defRPr/>
            </a:pPr>
            <a:r>
              <a:rPr lang="en-US" altLang="zh-TW" sz="2800" dirty="0">
                <a:solidFill>
                  <a:schemeClr val="tx1"/>
                </a:solidFill>
                <a:latin typeface="+mn-ea"/>
              </a:rPr>
              <a:t>SMAC Planner </a:t>
            </a:r>
            <a:r>
              <a:rPr lang="zh-TW" altLang="en-US" sz="2800" dirty="0">
                <a:solidFill>
                  <a:schemeClr val="tx1"/>
                </a:solidFill>
                <a:latin typeface="+mn-ea"/>
              </a:rPr>
              <a:t>概念說明</a:t>
            </a:r>
            <a:endParaRPr lang="en-US" altLang="zh-TW" sz="2900" dirty="0">
              <a:solidFill>
                <a:srgbClr val="FFFFFF"/>
              </a:solidFill>
            </a:endParaRPr>
          </a:p>
        </p:txBody>
      </p:sp>
      <p:pic>
        <p:nvPicPr>
          <p:cNvPr id="12" name="圖片 11">
            <a:extLst>
              <a:ext uri="{FF2B5EF4-FFF2-40B4-BE49-F238E27FC236}">
                <a16:creationId xmlns:a16="http://schemas.microsoft.com/office/drawing/2014/main" id="{A84B79F3-480D-4605-7F12-E01ADAE06D5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908"/>
          <a:stretch>
            <a:fillRect/>
          </a:stretch>
        </p:blipFill>
        <p:spPr>
          <a:xfrm>
            <a:off x="1117382" y="549275"/>
            <a:ext cx="9957235" cy="60468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646405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BB3EF1-FE6E-6DFD-6FC7-6683204DA2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E852854-7F6B-CFCC-A806-6135D4ACFEFF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2192000" cy="549275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ctr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3200" kern="1200">
                <a:solidFill>
                  <a:srgbClr val="008CD6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Segoe UI" panose="020B0502040204020203" pitchFamily="34" charset="0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29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軟正黑體" panose="020B0604030504040204" pitchFamily="34" charset="-120"/>
              <a:ea typeface="微軟正黑體" panose="020B0604030504040204" pitchFamily="34" charset="-120"/>
              <a:cs typeface="Segoe UI" panose="020B0502040204020203" pitchFamily="34" charset="0"/>
            </a:endParaRPr>
          </a:p>
        </p:txBody>
      </p:sp>
      <p:sp>
        <p:nvSpPr>
          <p:cNvPr id="3" name="標題 1">
            <a:extLst>
              <a:ext uri="{FF2B5EF4-FFF2-40B4-BE49-F238E27FC236}">
                <a16:creationId xmlns:a16="http://schemas.microsoft.com/office/drawing/2014/main" id="{7A157B46-CF05-6A8F-5051-E90FC2F87114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2192000" cy="549275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ctr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3200" kern="1200">
                <a:solidFill>
                  <a:srgbClr val="008CD6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Segoe UI" panose="020B0502040204020203" pitchFamily="34" charset="0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29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軟正黑體" panose="020B0604030504040204" pitchFamily="34" charset="-120"/>
              <a:ea typeface="微軟正黑體" panose="020B0604030504040204" pitchFamily="34" charset="-120"/>
              <a:cs typeface="Segoe UI" panose="020B0502040204020203" pitchFamily="34" charset="0"/>
            </a:endParaRPr>
          </a:p>
        </p:txBody>
      </p:sp>
      <p:sp>
        <p:nvSpPr>
          <p:cNvPr id="4" name="標題 1">
            <a:extLst>
              <a:ext uri="{FF2B5EF4-FFF2-40B4-BE49-F238E27FC236}">
                <a16:creationId xmlns:a16="http://schemas.microsoft.com/office/drawing/2014/main" id="{18015453-7221-DDA9-58DA-9939B1D42387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2192000" cy="549275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ctr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3200" kern="1200">
                <a:solidFill>
                  <a:srgbClr val="008CD6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Segoe UI" panose="020B0502040204020203" pitchFamily="34" charset="0"/>
              </a:defRPr>
            </a:lvl1pPr>
          </a:lstStyle>
          <a:p>
            <a:pPr lvl="0">
              <a:defRPr/>
            </a:pPr>
            <a:r>
              <a:rPr kumimoji="0" lang="en-US" altLang="zh-TW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微軟正黑體" panose="020B0604030504040204" pitchFamily="34" charset="-120"/>
                <a:cs typeface="Segoe UI" panose="020B0502040204020203" pitchFamily="34" charset="0"/>
              </a:rPr>
              <a:t>SMAC Planner </a:t>
            </a:r>
            <a:r>
              <a:rPr kumimoji="0" lang="zh-TW" altLang="en-US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微軟正黑體" panose="020B0604030504040204" pitchFamily="34" charset="-120"/>
                <a:cs typeface="Segoe UI" panose="020B0502040204020203" pitchFamily="34" charset="0"/>
              </a:rPr>
              <a:t>範例代碼測試</a:t>
            </a:r>
            <a:endParaRPr kumimoji="0" lang="en-US" altLang="zh-TW" sz="29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軟正黑體" panose="020B0604030504040204" pitchFamily="34" charset="-120"/>
              <a:ea typeface="微軟正黑體" panose="020B0604030504040204" pitchFamily="34" charset="-120"/>
              <a:cs typeface="Segoe UI" panose="020B0502040204020203" pitchFamily="34" charset="0"/>
            </a:endParaRPr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7F7F16B4-58FC-4F2C-78E8-E59E6724CF1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943"/>
          <a:stretch>
            <a:fillRect/>
          </a:stretch>
        </p:blipFill>
        <p:spPr>
          <a:xfrm>
            <a:off x="1333200" y="549275"/>
            <a:ext cx="9541835" cy="60468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82504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A0DE58-6623-5AF6-2F65-9C15F70E17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E9410F0-A4AC-1ED5-388B-38DEDEDFE85F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2192000" cy="549275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ctr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3200" kern="1200">
                <a:solidFill>
                  <a:srgbClr val="008CD6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Segoe UI" panose="020B0502040204020203" pitchFamily="34" charset="0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29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軟正黑體" panose="020B0604030504040204" pitchFamily="34" charset="-120"/>
              <a:ea typeface="微軟正黑體" panose="020B0604030504040204" pitchFamily="34" charset="-120"/>
              <a:cs typeface="Segoe UI" panose="020B0502040204020203" pitchFamily="34" charset="0"/>
            </a:endParaRPr>
          </a:p>
        </p:txBody>
      </p:sp>
      <p:sp>
        <p:nvSpPr>
          <p:cNvPr id="3" name="標題 1">
            <a:extLst>
              <a:ext uri="{FF2B5EF4-FFF2-40B4-BE49-F238E27FC236}">
                <a16:creationId xmlns:a16="http://schemas.microsoft.com/office/drawing/2014/main" id="{B3E1471F-A9BA-9DDD-933A-9D34BA7C1C09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2192000" cy="549275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ctr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3200" kern="1200">
                <a:solidFill>
                  <a:srgbClr val="008CD6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Segoe UI" panose="020B0502040204020203" pitchFamily="34" charset="0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29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軟正黑體" panose="020B0604030504040204" pitchFamily="34" charset="-120"/>
              <a:ea typeface="微軟正黑體" panose="020B0604030504040204" pitchFamily="34" charset="-120"/>
              <a:cs typeface="Segoe UI" panose="020B0502040204020203" pitchFamily="34" charset="0"/>
            </a:endParaRPr>
          </a:p>
        </p:txBody>
      </p:sp>
      <p:sp>
        <p:nvSpPr>
          <p:cNvPr id="4" name="標題 1">
            <a:extLst>
              <a:ext uri="{FF2B5EF4-FFF2-40B4-BE49-F238E27FC236}">
                <a16:creationId xmlns:a16="http://schemas.microsoft.com/office/drawing/2014/main" id="{7F83E9F0-876B-4FE7-01C8-D422C4E58BF9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2192000" cy="549275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ctr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3200" kern="1200">
                <a:solidFill>
                  <a:srgbClr val="008CD6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Segoe UI" panose="020B0502040204020203" pitchFamily="34" charset="0"/>
              </a:defRPr>
            </a:lvl1pPr>
          </a:lstStyle>
          <a:p>
            <a:pPr lvl="0">
              <a:defRPr/>
            </a:pPr>
            <a:r>
              <a:rPr lang="en-US" altLang="zh-TW" sz="2800" dirty="0">
                <a:solidFill>
                  <a:schemeClr val="tx1"/>
                </a:solidFill>
                <a:latin typeface="+mn-ea"/>
              </a:rPr>
              <a:t>Hybrid A*</a:t>
            </a:r>
            <a:r>
              <a:rPr kumimoji="0" lang="en-US" altLang="zh-TW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微軟正黑體" panose="020B0604030504040204" pitchFamily="34" charset="-120"/>
                <a:cs typeface="Segoe UI" panose="020B0502040204020203" pitchFamily="34" charset="0"/>
              </a:rPr>
              <a:t> </a:t>
            </a:r>
            <a:r>
              <a:rPr lang="zh-TW" altLang="en-US" sz="2800" dirty="0">
                <a:solidFill>
                  <a:schemeClr val="tx1"/>
                </a:solidFill>
                <a:latin typeface="+mn-ea"/>
              </a:rPr>
              <a:t>演算法測試 </a:t>
            </a:r>
            <a:r>
              <a:rPr lang="en-US" altLang="zh-TW" sz="2800" dirty="0">
                <a:solidFill>
                  <a:schemeClr val="tx1"/>
                </a:solidFill>
                <a:latin typeface="+mn-ea"/>
              </a:rPr>
              <a:t>(1)</a:t>
            </a:r>
            <a:endParaRPr kumimoji="0" lang="en-US" altLang="zh-TW" sz="29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軟正黑體" panose="020B0604030504040204" pitchFamily="34" charset="-120"/>
              <a:ea typeface="微軟正黑體" panose="020B0604030504040204" pitchFamily="34" charset="-120"/>
              <a:cs typeface="Segoe UI" panose="020B0502040204020203" pitchFamily="34" charset="0"/>
            </a:endParaRPr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7FF097DF-6DAD-BA8B-6F6D-7635324557F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60434" y="609373"/>
            <a:ext cx="6835148" cy="5639254"/>
          </a:xfrm>
          <a:prstGeom prst="rect">
            <a:avLst/>
          </a:prstGeom>
        </p:spPr>
      </p:pic>
      <p:sp>
        <p:nvSpPr>
          <p:cNvPr id="8" name="文字方塊 7">
            <a:extLst>
              <a:ext uri="{FF2B5EF4-FFF2-40B4-BE49-F238E27FC236}">
                <a16:creationId xmlns:a16="http://schemas.microsoft.com/office/drawing/2014/main" id="{E908D638-2271-4759-BFB4-6540A9ED431F}"/>
              </a:ext>
            </a:extLst>
          </p:cNvPr>
          <p:cNvSpPr txBox="1"/>
          <p:nvPr/>
        </p:nvSpPr>
        <p:spPr>
          <a:xfrm>
            <a:off x="611443" y="1997839"/>
            <a:ext cx="3867913" cy="28623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altLang="zh-TW" dirty="0" err="1"/>
              <a:t>self.step_size</a:t>
            </a:r>
            <a:r>
              <a:rPr lang="en-US" altLang="zh-TW" dirty="0"/>
              <a:t> = 0.06</a:t>
            </a:r>
          </a:p>
          <a:p>
            <a:r>
              <a:rPr lang="en-US" altLang="zh-TW" dirty="0" err="1"/>
              <a:t>self.reverse_penalty</a:t>
            </a:r>
            <a:r>
              <a:rPr lang="en-US" altLang="zh-TW" dirty="0"/>
              <a:t> = 0.3</a:t>
            </a:r>
          </a:p>
          <a:p>
            <a:r>
              <a:rPr lang="en-US" altLang="zh-TW" dirty="0" err="1"/>
              <a:t>self.change_dir_penalty</a:t>
            </a:r>
            <a:r>
              <a:rPr lang="en-US" altLang="zh-TW" dirty="0"/>
              <a:t> = 0.8</a:t>
            </a:r>
          </a:p>
          <a:p>
            <a:r>
              <a:rPr lang="en-US" altLang="zh-TW" dirty="0" err="1"/>
              <a:t>self.steering_penalty</a:t>
            </a:r>
            <a:r>
              <a:rPr lang="en-US" altLang="zh-TW" dirty="0"/>
              <a:t> = 0.1</a:t>
            </a:r>
          </a:p>
          <a:p>
            <a:r>
              <a:rPr lang="zh-TW" altLang="zh-TW" dirty="0"/>
              <a:t>dist &lt; 0.1</a:t>
            </a:r>
            <a:r>
              <a:rPr lang="en-US" altLang="zh-TW" dirty="0"/>
              <a:t> </a:t>
            </a:r>
            <a:r>
              <a:rPr lang="zh-TW" altLang="zh-TW" dirty="0"/>
              <a:t>and angle_diff &lt; np.radians(45)</a:t>
            </a:r>
            <a:r>
              <a:rPr lang="en-US" altLang="zh-TW" dirty="0"/>
              <a:t> </a:t>
            </a:r>
            <a:r>
              <a:rPr lang="zh-TW" altLang="zh-TW" dirty="0"/>
              <a:t>and goal_angle_diff &lt; np.radians(45)</a:t>
            </a:r>
          </a:p>
          <a:p>
            <a:r>
              <a:rPr lang="zh-TW" altLang="zh-TW" dirty="0"/>
              <a:t>self.costmap.add_obstacle(x=0.1, y=0.1, radius=0.2, inflation_radius=0.35)</a:t>
            </a:r>
          </a:p>
        </p:txBody>
      </p:sp>
    </p:spTree>
    <p:extLst>
      <p:ext uri="{BB962C8B-B14F-4D97-AF65-F5344CB8AC3E}">
        <p14:creationId xmlns:p14="http://schemas.microsoft.com/office/powerpoint/2010/main" val="4506281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34EA6F-E242-3B8D-21EC-59397F10A3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FB6E173-B461-A1F7-630F-9A1A243B7E06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2192000" cy="549275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ctr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3200" kern="1200">
                <a:solidFill>
                  <a:srgbClr val="008CD6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Segoe UI" panose="020B0502040204020203" pitchFamily="34" charset="0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29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軟正黑體" panose="020B0604030504040204" pitchFamily="34" charset="-120"/>
              <a:ea typeface="微軟正黑體" panose="020B0604030504040204" pitchFamily="34" charset="-120"/>
              <a:cs typeface="Segoe UI" panose="020B0502040204020203" pitchFamily="34" charset="0"/>
            </a:endParaRPr>
          </a:p>
        </p:txBody>
      </p:sp>
      <p:sp>
        <p:nvSpPr>
          <p:cNvPr id="3" name="標題 1">
            <a:extLst>
              <a:ext uri="{FF2B5EF4-FFF2-40B4-BE49-F238E27FC236}">
                <a16:creationId xmlns:a16="http://schemas.microsoft.com/office/drawing/2014/main" id="{E4A7CC43-4710-DA20-06FA-BB02EFFF4FEE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2192000" cy="549275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ctr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3200" kern="1200">
                <a:solidFill>
                  <a:srgbClr val="008CD6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Segoe UI" panose="020B0502040204020203" pitchFamily="34" charset="0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29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軟正黑體" panose="020B0604030504040204" pitchFamily="34" charset="-120"/>
              <a:ea typeface="微軟正黑體" panose="020B0604030504040204" pitchFamily="34" charset="-120"/>
              <a:cs typeface="Segoe UI" panose="020B0502040204020203" pitchFamily="34" charset="0"/>
            </a:endParaRPr>
          </a:p>
        </p:txBody>
      </p:sp>
      <p:sp>
        <p:nvSpPr>
          <p:cNvPr id="4" name="標題 1">
            <a:extLst>
              <a:ext uri="{FF2B5EF4-FFF2-40B4-BE49-F238E27FC236}">
                <a16:creationId xmlns:a16="http://schemas.microsoft.com/office/drawing/2014/main" id="{FB3AB085-3056-AF0A-7015-449848F2A536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2192000" cy="549275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ctr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3200" kern="1200">
                <a:solidFill>
                  <a:srgbClr val="008CD6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Segoe UI" panose="020B0502040204020203" pitchFamily="34" charset="0"/>
              </a:defRPr>
            </a:lvl1pPr>
          </a:lstStyle>
          <a:p>
            <a:pPr lvl="0">
              <a:defRPr/>
            </a:pPr>
            <a:r>
              <a:rPr lang="en-US" altLang="zh-TW" sz="2800" dirty="0">
                <a:solidFill>
                  <a:schemeClr val="tx1"/>
                </a:solidFill>
                <a:latin typeface="+mn-ea"/>
              </a:rPr>
              <a:t>Hybrid A*</a:t>
            </a:r>
            <a:r>
              <a:rPr kumimoji="0" lang="en-US" altLang="zh-TW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微軟正黑體" panose="020B0604030504040204" pitchFamily="34" charset="-120"/>
                <a:cs typeface="Segoe UI" panose="020B0502040204020203" pitchFamily="34" charset="0"/>
              </a:rPr>
              <a:t> </a:t>
            </a:r>
            <a:r>
              <a:rPr lang="zh-TW" altLang="en-US" sz="2800" dirty="0">
                <a:solidFill>
                  <a:schemeClr val="tx1"/>
                </a:solidFill>
                <a:latin typeface="+mn-ea"/>
              </a:rPr>
              <a:t>演算法測試 </a:t>
            </a:r>
            <a:r>
              <a:rPr lang="en-US" altLang="zh-TW" sz="2800" dirty="0">
                <a:solidFill>
                  <a:schemeClr val="tx1"/>
                </a:solidFill>
                <a:latin typeface="+mn-ea"/>
              </a:rPr>
              <a:t>(2)</a:t>
            </a:r>
            <a:endParaRPr kumimoji="0" lang="en-US" altLang="zh-TW" sz="29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軟正黑體" panose="020B0604030504040204" pitchFamily="34" charset="-120"/>
              <a:ea typeface="微軟正黑體" panose="020B0604030504040204" pitchFamily="34" charset="-120"/>
              <a:cs typeface="Segoe UI" panose="020B0502040204020203" pitchFamily="34" charset="0"/>
            </a:endParaRPr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6089FA0A-2716-87A6-5792-73791954497E}"/>
              </a:ext>
            </a:extLst>
          </p:cNvPr>
          <p:cNvSpPr txBox="1"/>
          <p:nvPr/>
        </p:nvSpPr>
        <p:spPr>
          <a:xfrm>
            <a:off x="611443" y="1997839"/>
            <a:ext cx="3867913" cy="28623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altLang="zh-TW" dirty="0" err="1"/>
              <a:t>self.step_size</a:t>
            </a:r>
            <a:r>
              <a:rPr lang="en-US" altLang="zh-TW" dirty="0"/>
              <a:t> = 0.06</a:t>
            </a:r>
          </a:p>
          <a:p>
            <a:r>
              <a:rPr lang="en-US" altLang="zh-TW" dirty="0" err="1"/>
              <a:t>self.reverse_penalty</a:t>
            </a:r>
            <a:r>
              <a:rPr lang="en-US" altLang="zh-TW" dirty="0"/>
              <a:t> = 0.3</a:t>
            </a:r>
          </a:p>
          <a:p>
            <a:r>
              <a:rPr lang="en-US" altLang="zh-TW" dirty="0" err="1"/>
              <a:t>self.change_dir_penalty</a:t>
            </a:r>
            <a:r>
              <a:rPr lang="en-US" altLang="zh-TW" dirty="0"/>
              <a:t> = 0.8</a:t>
            </a:r>
          </a:p>
          <a:p>
            <a:r>
              <a:rPr lang="en-US" altLang="zh-TW" dirty="0" err="1"/>
              <a:t>self.steering_penalty</a:t>
            </a:r>
            <a:r>
              <a:rPr lang="en-US" altLang="zh-TW" dirty="0"/>
              <a:t> = 0.1</a:t>
            </a:r>
          </a:p>
          <a:p>
            <a:r>
              <a:rPr lang="zh-TW" altLang="zh-TW" dirty="0"/>
              <a:t>dist &lt; 0.1</a:t>
            </a:r>
            <a:r>
              <a:rPr lang="en-US" altLang="zh-TW" dirty="0"/>
              <a:t> </a:t>
            </a:r>
            <a:r>
              <a:rPr lang="zh-TW" altLang="zh-TW" dirty="0"/>
              <a:t>and angle_diff &lt; np.radians(45)</a:t>
            </a:r>
            <a:r>
              <a:rPr lang="en-US" altLang="zh-TW" dirty="0"/>
              <a:t> </a:t>
            </a:r>
            <a:r>
              <a:rPr lang="zh-TW" altLang="zh-TW" dirty="0"/>
              <a:t>and goal_angle_diff &lt; np.radians(45)</a:t>
            </a:r>
          </a:p>
          <a:p>
            <a:r>
              <a:rPr lang="zh-TW" altLang="zh-TW" dirty="0"/>
              <a:t>self.costmap.add_obstacle</a:t>
            </a:r>
            <a:r>
              <a:rPr lang="zh-TW" altLang="zh-TW" b="1" dirty="0">
                <a:solidFill>
                  <a:srgbClr val="00B0F0"/>
                </a:solidFill>
              </a:rPr>
              <a:t>(x=0.</a:t>
            </a:r>
            <a:r>
              <a:rPr lang="en-US" altLang="zh-TW" b="1" dirty="0">
                <a:solidFill>
                  <a:srgbClr val="00B0F0"/>
                </a:solidFill>
              </a:rPr>
              <a:t>5</a:t>
            </a:r>
            <a:r>
              <a:rPr lang="zh-TW" altLang="zh-TW" dirty="0"/>
              <a:t>, y=0.1, radius=0.2, inflation_radius=0.35)</a:t>
            </a:r>
          </a:p>
        </p:txBody>
      </p:sp>
      <p:pic>
        <p:nvPicPr>
          <p:cNvPr id="10" name="圖片 9">
            <a:extLst>
              <a:ext uri="{FF2B5EF4-FFF2-40B4-BE49-F238E27FC236}">
                <a16:creationId xmlns:a16="http://schemas.microsoft.com/office/drawing/2014/main" id="{7751A38B-BC5D-5E4F-4129-90F9AC7D160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60433" y="609373"/>
            <a:ext cx="6938241" cy="56392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361945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0454D0-8716-A1E0-8BB1-C189911D9B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215FE06-4673-EAA1-79BE-A63A184667CD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2192000" cy="549275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ctr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3200" kern="1200">
                <a:solidFill>
                  <a:srgbClr val="008CD6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Segoe UI" panose="020B0502040204020203" pitchFamily="34" charset="0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29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軟正黑體" panose="020B0604030504040204" pitchFamily="34" charset="-120"/>
              <a:ea typeface="微軟正黑體" panose="020B0604030504040204" pitchFamily="34" charset="-120"/>
              <a:cs typeface="Segoe UI" panose="020B0502040204020203" pitchFamily="34" charset="0"/>
            </a:endParaRPr>
          </a:p>
        </p:txBody>
      </p:sp>
      <p:sp>
        <p:nvSpPr>
          <p:cNvPr id="3" name="標題 1">
            <a:extLst>
              <a:ext uri="{FF2B5EF4-FFF2-40B4-BE49-F238E27FC236}">
                <a16:creationId xmlns:a16="http://schemas.microsoft.com/office/drawing/2014/main" id="{0D358AA2-4D37-2AAB-049A-DEB3C2D7311F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2192000" cy="549275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ctr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3200" kern="1200">
                <a:solidFill>
                  <a:srgbClr val="008CD6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Segoe UI" panose="020B0502040204020203" pitchFamily="34" charset="0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29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軟正黑體" panose="020B0604030504040204" pitchFamily="34" charset="-120"/>
              <a:ea typeface="微軟正黑體" panose="020B0604030504040204" pitchFamily="34" charset="-120"/>
              <a:cs typeface="Segoe UI" panose="020B0502040204020203" pitchFamily="34" charset="0"/>
            </a:endParaRPr>
          </a:p>
        </p:txBody>
      </p:sp>
      <p:sp>
        <p:nvSpPr>
          <p:cNvPr id="4" name="標題 1">
            <a:extLst>
              <a:ext uri="{FF2B5EF4-FFF2-40B4-BE49-F238E27FC236}">
                <a16:creationId xmlns:a16="http://schemas.microsoft.com/office/drawing/2014/main" id="{12989BB2-9B8B-0B60-343C-52CCAE1CD67B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2192000" cy="549275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ctr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3200" kern="1200">
                <a:solidFill>
                  <a:srgbClr val="008CD6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Segoe UI" panose="020B0502040204020203" pitchFamily="34" charset="0"/>
              </a:defRPr>
            </a:lvl1pPr>
          </a:lstStyle>
          <a:p>
            <a:pPr lvl="0">
              <a:defRPr/>
            </a:pPr>
            <a:r>
              <a:rPr lang="en-US" altLang="zh-TW" sz="2800" dirty="0">
                <a:solidFill>
                  <a:schemeClr val="tx1"/>
                </a:solidFill>
                <a:latin typeface="+mn-ea"/>
              </a:rPr>
              <a:t>Hybrid A*</a:t>
            </a:r>
            <a:r>
              <a:rPr kumimoji="0" lang="en-US" altLang="zh-TW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微軟正黑體" panose="020B0604030504040204" pitchFamily="34" charset="-120"/>
                <a:cs typeface="Segoe UI" panose="020B0502040204020203" pitchFamily="34" charset="0"/>
              </a:rPr>
              <a:t> </a:t>
            </a:r>
            <a:r>
              <a:rPr lang="zh-TW" altLang="en-US" sz="2800" dirty="0">
                <a:solidFill>
                  <a:schemeClr val="tx1"/>
                </a:solidFill>
                <a:latin typeface="+mn-ea"/>
              </a:rPr>
              <a:t>演算法測試 </a:t>
            </a:r>
            <a:r>
              <a:rPr lang="en-US" altLang="zh-TW" sz="2800" dirty="0">
                <a:solidFill>
                  <a:schemeClr val="tx1"/>
                </a:solidFill>
                <a:latin typeface="+mn-ea"/>
              </a:rPr>
              <a:t>(3)</a:t>
            </a:r>
            <a:endParaRPr kumimoji="0" lang="en-US" altLang="zh-TW" sz="29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軟正黑體" panose="020B0604030504040204" pitchFamily="34" charset="-120"/>
              <a:ea typeface="微軟正黑體" panose="020B0604030504040204" pitchFamily="34" charset="-120"/>
              <a:cs typeface="Segoe UI" panose="020B0502040204020203" pitchFamily="34" charset="0"/>
            </a:endParaRPr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8433E112-DF31-02BE-BBE5-DFAA5BAC0F4A}"/>
              </a:ext>
            </a:extLst>
          </p:cNvPr>
          <p:cNvSpPr txBox="1"/>
          <p:nvPr/>
        </p:nvSpPr>
        <p:spPr>
          <a:xfrm>
            <a:off x="611443" y="1997839"/>
            <a:ext cx="3867913" cy="28623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altLang="zh-TW" dirty="0" err="1"/>
              <a:t>self.step_size</a:t>
            </a:r>
            <a:r>
              <a:rPr lang="en-US" altLang="zh-TW" dirty="0"/>
              <a:t> = 0.06</a:t>
            </a:r>
          </a:p>
          <a:p>
            <a:r>
              <a:rPr lang="en-US" altLang="zh-TW" dirty="0" err="1"/>
              <a:t>self.reverse_penalty</a:t>
            </a:r>
            <a:r>
              <a:rPr lang="en-US" altLang="zh-TW" dirty="0"/>
              <a:t> = 0.3</a:t>
            </a:r>
          </a:p>
          <a:p>
            <a:r>
              <a:rPr lang="en-US" altLang="zh-TW" dirty="0" err="1"/>
              <a:t>self.change_dir_penalty</a:t>
            </a:r>
            <a:r>
              <a:rPr lang="en-US" altLang="zh-TW" dirty="0"/>
              <a:t> = 0.8</a:t>
            </a:r>
          </a:p>
          <a:p>
            <a:r>
              <a:rPr lang="en-US" altLang="zh-TW" dirty="0" err="1"/>
              <a:t>self.steering_penalty</a:t>
            </a:r>
            <a:r>
              <a:rPr lang="en-US" altLang="zh-TW" dirty="0"/>
              <a:t> = 0.1</a:t>
            </a:r>
          </a:p>
          <a:p>
            <a:r>
              <a:rPr lang="zh-TW" altLang="zh-TW" dirty="0"/>
              <a:t>dist &lt; 0.1</a:t>
            </a:r>
            <a:r>
              <a:rPr lang="en-US" altLang="zh-TW" dirty="0"/>
              <a:t> </a:t>
            </a:r>
            <a:r>
              <a:rPr lang="zh-TW" altLang="zh-TW" dirty="0"/>
              <a:t>and angle_diff &lt; np.radians(45)</a:t>
            </a:r>
            <a:r>
              <a:rPr lang="en-US" altLang="zh-TW" dirty="0"/>
              <a:t> </a:t>
            </a:r>
            <a:r>
              <a:rPr lang="zh-TW" altLang="zh-TW" dirty="0"/>
              <a:t>and goal_angle_diff &lt; np.radians(45)</a:t>
            </a:r>
          </a:p>
          <a:p>
            <a:r>
              <a:rPr lang="zh-TW" altLang="zh-TW" dirty="0"/>
              <a:t>self.costmap.add_obstacle</a:t>
            </a:r>
            <a:r>
              <a:rPr lang="zh-TW" altLang="zh-TW" b="1" dirty="0">
                <a:solidFill>
                  <a:srgbClr val="00B0F0"/>
                </a:solidFill>
              </a:rPr>
              <a:t>(x=0.</a:t>
            </a:r>
            <a:r>
              <a:rPr lang="en-US" altLang="zh-TW" b="1" dirty="0">
                <a:solidFill>
                  <a:srgbClr val="00B0F0"/>
                </a:solidFill>
              </a:rPr>
              <a:t>9</a:t>
            </a:r>
            <a:r>
              <a:rPr lang="zh-TW" altLang="zh-TW" dirty="0"/>
              <a:t>, y=0.1, radius=0.2, inflation_radius=0.35)</a:t>
            </a:r>
          </a:p>
        </p:txBody>
      </p:sp>
      <p:pic>
        <p:nvPicPr>
          <p:cNvPr id="9" name="圖片 8">
            <a:extLst>
              <a:ext uri="{FF2B5EF4-FFF2-40B4-BE49-F238E27FC236}">
                <a16:creationId xmlns:a16="http://schemas.microsoft.com/office/drawing/2014/main" id="{DF789105-0D3F-18FE-AD4F-3752CDD3EEF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60433" y="609373"/>
            <a:ext cx="6814966" cy="56392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064970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B55A8D-793D-52A7-581E-0A1C18BDC8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C2D4515-BACC-FB71-5F9D-1D6FAB801333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2192000" cy="549275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ctr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3200" kern="1200">
                <a:solidFill>
                  <a:srgbClr val="008CD6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Segoe UI" panose="020B0502040204020203" pitchFamily="34" charset="0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29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軟正黑體" panose="020B0604030504040204" pitchFamily="34" charset="-120"/>
              <a:ea typeface="微軟正黑體" panose="020B0604030504040204" pitchFamily="34" charset="-120"/>
              <a:cs typeface="Segoe UI" panose="020B0502040204020203" pitchFamily="34" charset="0"/>
            </a:endParaRPr>
          </a:p>
        </p:txBody>
      </p:sp>
      <p:sp>
        <p:nvSpPr>
          <p:cNvPr id="3" name="標題 1">
            <a:extLst>
              <a:ext uri="{FF2B5EF4-FFF2-40B4-BE49-F238E27FC236}">
                <a16:creationId xmlns:a16="http://schemas.microsoft.com/office/drawing/2014/main" id="{ABE01196-E06F-3225-AF0F-961191D7A8F8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2192000" cy="549275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ctr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3200" kern="1200">
                <a:solidFill>
                  <a:srgbClr val="008CD6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Segoe UI" panose="020B0502040204020203" pitchFamily="34" charset="0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29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軟正黑體" panose="020B0604030504040204" pitchFamily="34" charset="-120"/>
              <a:ea typeface="微軟正黑體" panose="020B0604030504040204" pitchFamily="34" charset="-120"/>
              <a:cs typeface="Segoe UI" panose="020B0502040204020203" pitchFamily="34" charset="0"/>
            </a:endParaRPr>
          </a:p>
        </p:txBody>
      </p:sp>
      <p:sp>
        <p:nvSpPr>
          <p:cNvPr id="4" name="標題 1">
            <a:extLst>
              <a:ext uri="{FF2B5EF4-FFF2-40B4-BE49-F238E27FC236}">
                <a16:creationId xmlns:a16="http://schemas.microsoft.com/office/drawing/2014/main" id="{59865F57-F577-B822-5663-E8A5D545DC17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2192000" cy="549275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ctr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3200" kern="1200">
                <a:solidFill>
                  <a:srgbClr val="008CD6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Segoe UI" panose="020B0502040204020203" pitchFamily="34" charset="0"/>
              </a:defRPr>
            </a:lvl1pPr>
          </a:lstStyle>
          <a:p>
            <a:pPr lvl="0">
              <a:defRPr/>
            </a:pPr>
            <a:r>
              <a:rPr lang="en-US" altLang="zh-TW" sz="2800" dirty="0">
                <a:solidFill>
                  <a:schemeClr val="tx1"/>
                </a:solidFill>
                <a:latin typeface="+mn-ea"/>
              </a:rPr>
              <a:t>Hybrid A*</a:t>
            </a:r>
            <a:r>
              <a:rPr kumimoji="0" lang="en-US" altLang="zh-TW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微軟正黑體" panose="020B0604030504040204" pitchFamily="34" charset="-120"/>
                <a:cs typeface="Segoe UI" panose="020B0502040204020203" pitchFamily="34" charset="0"/>
              </a:rPr>
              <a:t> </a:t>
            </a:r>
            <a:r>
              <a:rPr lang="zh-TW" altLang="en-US" sz="2800" dirty="0">
                <a:solidFill>
                  <a:schemeClr val="tx1"/>
                </a:solidFill>
                <a:latin typeface="+mn-ea"/>
              </a:rPr>
              <a:t>演算法測試 </a:t>
            </a:r>
            <a:r>
              <a:rPr lang="en-US" altLang="zh-TW" sz="2800" dirty="0">
                <a:solidFill>
                  <a:schemeClr val="tx1"/>
                </a:solidFill>
                <a:latin typeface="+mn-ea"/>
              </a:rPr>
              <a:t>(4)</a:t>
            </a:r>
            <a:endParaRPr kumimoji="0" lang="en-US" altLang="zh-TW" sz="29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軟正黑體" panose="020B0604030504040204" pitchFamily="34" charset="-120"/>
              <a:ea typeface="微軟正黑體" panose="020B0604030504040204" pitchFamily="34" charset="-120"/>
              <a:cs typeface="Segoe UI" panose="020B0502040204020203" pitchFamily="34" charset="0"/>
            </a:endParaRPr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F90B2CE3-C38D-484A-CE98-F434D450783D}"/>
              </a:ext>
            </a:extLst>
          </p:cNvPr>
          <p:cNvSpPr txBox="1"/>
          <p:nvPr/>
        </p:nvSpPr>
        <p:spPr>
          <a:xfrm>
            <a:off x="611443" y="1997839"/>
            <a:ext cx="3867913" cy="28623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altLang="zh-TW" dirty="0" err="1"/>
              <a:t>self.step_size</a:t>
            </a:r>
            <a:r>
              <a:rPr lang="en-US" altLang="zh-TW" dirty="0"/>
              <a:t> = 0.06</a:t>
            </a:r>
          </a:p>
          <a:p>
            <a:r>
              <a:rPr lang="en-US" altLang="zh-TW" dirty="0" err="1"/>
              <a:t>self.reverse_penalty</a:t>
            </a:r>
            <a:r>
              <a:rPr lang="en-US" altLang="zh-TW" dirty="0"/>
              <a:t> = 0.3</a:t>
            </a:r>
          </a:p>
          <a:p>
            <a:r>
              <a:rPr lang="en-US" altLang="zh-TW" dirty="0" err="1"/>
              <a:t>self.change_dir_penalty</a:t>
            </a:r>
            <a:r>
              <a:rPr lang="en-US" altLang="zh-TW" dirty="0"/>
              <a:t> = 0.8</a:t>
            </a:r>
          </a:p>
          <a:p>
            <a:r>
              <a:rPr lang="en-US" altLang="zh-TW" dirty="0" err="1"/>
              <a:t>self.steering_penalty</a:t>
            </a:r>
            <a:r>
              <a:rPr lang="en-US" altLang="zh-TW" dirty="0"/>
              <a:t> = 0.1</a:t>
            </a:r>
          </a:p>
          <a:p>
            <a:r>
              <a:rPr lang="zh-TW" altLang="zh-TW" dirty="0"/>
              <a:t>dist &lt; 0.1</a:t>
            </a:r>
            <a:r>
              <a:rPr lang="en-US" altLang="zh-TW" dirty="0"/>
              <a:t> </a:t>
            </a:r>
            <a:r>
              <a:rPr lang="zh-TW" altLang="zh-TW" dirty="0"/>
              <a:t>and angle_diff &lt; np.radians(45)</a:t>
            </a:r>
            <a:r>
              <a:rPr lang="en-US" altLang="zh-TW" dirty="0"/>
              <a:t> </a:t>
            </a:r>
            <a:r>
              <a:rPr lang="zh-TW" altLang="zh-TW" dirty="0"/>
              <a:t>and goal_angle_diff &lt; np.radians(45)</a:t>
            </a:r>
          </a:p>
          <a:p>
            <a:r>
              <a:rPr lang="zh-TW" altLang="zh-TW" dirty="0"/>
              <a:t>self.costmap.add_obstacle</a:t>
            </a:r>
            <a:r>
              <a:rPr lang="zh-TW" altLang="zh-TW" b="1" dirty="0">
                <a:solidFill>
                  <a:srgbClr val="00B0F0"/>
                </a:solidFill>
              </a:rPr>
              <a:t>(x=</a:t>
            </a:r>
            <a:r>
              <a:rPr lang="en-US" altLang="zh-TW" b="1" dirty="0">
                <a:solidFill>
                  <a:srgbClr val="00B0F0"/>
                </a:solidFill>
              </a:rPr>
              <a:t>1.2</a:t>
            </a:r>
            <a:r>
              <a:rPr lang="zh-TW" altLang="zh-TW" dirty="0"/>
              <a:t>, y=0.1, radius=0.2, inflation_radius=0.35)</a:t>
            </a:r>
          </a:p>
        </p:txBody>
      </p:sp>
      <p:pic>
        <p:nvPicPr>
          <p:cNvPr id="10" name="圖片 9">
            <a:extLst>
              <a:ext uri="{FF2B5EF4-FFF2-40B4-BE49-F238E27FC236}">
                <a16:creationId xmlns:a16="http://schemas.microsoft.com/office/drawing/2014/main" id="{2FEB2DF5-DCD6-C180-D152-71BB1E70D75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60433" y="609373"/>
            <a:ext cx="6930926" cy="56392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19582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B1BC48-A387-AACC-93A2-B2176F4844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E06CF45-F492-8F21-3209-88C353396A24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2192000" cy="549275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ctr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3200" kern="1200">
                <a:solidFill>
                  <a:srgbClr val="008CD6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Segoe UI" panose="020B0502040204020203" pitchFamily="34" charset="0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29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軟正黑體" panose="020B0604030504040204" pitchFamily="34" charset="-120"/>
              <a:ea typeface="微軟正黑體" panose="020B0604030504040204" pitchFamily="34" charset="-120"/>
              <a:cs typeface="Segoe UI" panose="020B0502040204020203" pitchFamily="34" charset="0"/>
            </a:endParaRPr>
          </a:p>
        </p:txBody>
      </p:sp>
      <p:sp>
        <p:nvSpPr>
          <p:cNvPr id="3" name="標題 1">
            <a:extLst>
              <a:ext uri="{FF2B5EF4-FFF2-40B4-BE49-F238E27FC236}">
                <a16:creationId xmlns:a16="http://schemas.microsoft.com/office/drawing/2014/main" id="{D267C4C0-880C-8E50-22DD-0308CFC50F52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2192000" cy="549275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ctr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3200" kern="1200">
                <a:solidFill>
                  <a:srgbClr val="008CD6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Segoe UI" panose="020B0502040204020203" pitchFamily="34" charset="0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29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軟正黑體" panose="020B0604030504040204" pitchFamily="34" charset="-120"/>
              <a:ea typeface="微軟正黑體" panose="020B0604030504040204" pitchFamily="34" charset="-120"/>
              <a:cs typeface="Segoe UI" panose="020B0502040204020203" pitchFamily="34" charset="0"/>
            </a:endParaRPr>
          </a:p>
        </p:txBody>
      </p:sp>
      <p:sp>
        <p:nvSpPr>
          <p:cNvPr id="4" name="標題 1">
            <a:extLst>
              <a:ext uri="{FF2B5EF4-FFF2-40B4-BE49-F238E27FC236}">
                <a16:creationId xmlns:a16="http://schemas.microsoft.com/office/drawing/2014/main" id="{E990292C-5334-2BFA-AD7A-E015017B311F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2192000" cy="549275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ctr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3200" kern="1200">
                <a:solidFill>
                  <a:srgbClr val="008CD6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Segoe UI" panose="020B0502040204020203" pitchFamily="34" charset="0"/>
              </a:defRPr>
            </a:lvl1pPr>
          </a:lstStyle>
          <a:p>
            <a:pPr lvl="0">
              <a:defRPr/>
            </a:pPr>
            <a:r>
              <a:rPr lang="en-US" altLang="zh-TW" sz="2800" dirty="0">
                <a:solidFill>
                  <a:schemeClr val="tx1"/>
                </a:solidFill>
                <a:latin typeface="+mn-ea"/>
              </a:rPr>
              <a:t>Hybrid A*</a:t>
            </a:r>
            <a:r>
              <a:rPr kumimoji="0" lang="en-US" altLang="zh-TW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微軟正黑體" panose="020B0604030504040204" pitchFamily="34" charset="-120"/>
                <a:cs typeface="Segoe UI" panose="020B0502040204020203" pitchFamily="34" charset="0"/>
              </a:rPr>
              <a:t> </a:t>
            </a:r>
            <a:r>
              <a:rPr lang="zh-TW" altLang="en-US" sz="2800" dirty="0">
                <a:solidFill>
                  <a:schemeClr val="tx1"/>
                </a:solidFill>
                <a:latin typeface="+mn-ea"/>
              </a:rPr>
              <a:t>演算法測試 </a:t>
            </a:r>
            <a:r>
              <a:rPr lang="en-US" altLang="zh-TW" sz="2800" dirty="0">
                <a:solidFill>
                  <a:schemeClr val="tx1"/>
                </a:solidFill>
                <a:latin typeface="+mn-ea"/>
              </a:rPr>
              <a:t>(5)</a:t>
            </a:r>
            <a:endParaRPr kumimoji="0" lang="en-US" altLang="zh-TW" sz="29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軟正黑體" panose="020B0604030504040204" pitchFamily="34" charset="-120"/>
              <a:ea typeface="微軟正黑體" panose="020B0604030504040204" pitchFamily="34" charset="-120"/>
              <a:cs typeface="Segoe UI" panose="020B0502040204020203" pitchFamily="34" charset="0"/>
            </a:endParaRPr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8074BAC1-C50D-0BEC-D2DD-68698898D8BF}"/>
              </a:ext>
            </a:extLst>
          </p:cNvPr>
          <p:cNvSpPr txBox="1"/>
          <p:nvPr/>
        </p:nvSpPr>
        <p:spPr>
          <a:xfrm>
            <a:off x="611443" y="1997839"/>
            <a:ext cx="3867913" cy="28623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altLang="zh-TW" dirty="0" err="1"/>
              <a:t>self.step_size</a:t>
            </a:r>
            <a:r>
              <a:rPr lang="en-US" altLang="zh-TW" dirty="0"/>
              <a:t> = 0.06</a:t>
            </a:r>
          </a:p>
          <a:p>
            <a:r>
              <a:rPr lang="en-US" altLang="zh-TW" dirty="0" err="1"/>
              <a:t>self.reverse_penalty</a:t>
            </a:r>
            <a:r>
              <a:rPr lang="en-US" altLang="zh-TW" dirty="0"/>
              <a:t> = 0.3</a:t>
            </a:r>
          </a:p>
          <a:p>
            <a:r>
              <a:rPr lang="en-US" altLang="zh-TW" dirty="0" err="1"/>
              <a:t>self.change_dir_penalty</a:t>
            </a:r>
            <a:r>
              <a:rPr lang="en-US" altLang="zh-TW" dirty="0"/>
              <a:t> = 0.8</a:t>
            </a:r>
          </a:p>
          <a:p>
            <a:r>
              <a:rPr lang="en-US" altLang="zh-TW" dirty="0" err="1"/>
              <a:t>self.steering_penalty</a:t>
            </a:r>
            <a:r>
              <a:rPr lang="en-US" altLang="zh-TW" dirty="0"/>
              <a:t> = 0.1</a:t>
            </a:r>
          </a:p>
          <a:p>
            <a:r>
              <a:rPr lang="zh-TW" altLang="zh-TW" dirty="0"/>
              <a:t>dist &lt; 0.1</a:t>
            </a:r>
            <a:r>
              <a:rPr lang="en-US" altLang="zh-TW" dirty="0"/>
              <a:t> </a:t>
            </a:r>
            <a:r>
              <a:rPr lang="zh-TW" altLang="zh-TW" dirty="0"/>
              <a:t>and angle_diff &lt; np.radians(45)</a:t>
            </a:r>
            <a:r>
              <a:rPr lang="en-US" altLang="zh-TW" dirty="0"/>
              <a:t> </a:t>
            </a:r>
            <a:r>
              <a:rPr lang="zh-TW" altLang="zh-TW" dirty="0"/>
              <a:t>and goal_angle_diff &lt; np.radians(45)</a:t>
            </a:r>
          </a:p>
          <a:p>
            <a:r>
              <a:rPr lang="zh-TW" altLang="zh-TW" dirty="0"/>
              <a:t>self.costmap.add_obstacle</a:t>
            </a:r>
            <a:r>
              <a:rPr lang="zh-TW" altLang="zh-TW" b="1" dirty="0">
                <a:solidFill>
                  <a:srgbClr val="00B0F0"/>
                </a:solidFill>
              </a:rPr>
              <a:t>(x=</a:t>
            </a:r>
            <a:r>
              <a:rPr lang="en-US" altLang="zh-TW" b="1" dirty="0">
                <a:solidFill>
                  <a:srgbClr val="00B0F0"/>
                </a:solidFill>
              </a:rPr>
              <a:t>1.5</a:t>
            </a:r>
            <a:r>
              <a:rPr lang="zh-TW" altLang="zh-TW" dirty="0"/>
              <a:t>, y=0.1, radius=0.2, inflation_radius=0.35)</a:t>
            </a:r>
          </a:p>
        </p:txBody>
      </p:sp>
      <p:pic>
        <p:nvPicPr>
          <p:cNvPr id="9" name="圖片 8">
            <a:extLst>
              <a:ext uri="{FF2B5EF4-FFF2-40B4-BE49-F238E27FC236}">
                <a16:creationId xmlns:a16="http://schemas.microsoft.com/office/drawing/2014/main" id="{B5C1D8C1-8CD8-E2E7-A781-022B84BC851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60432" y="609373"/>
            <a:ext cx="6886599" cy="56392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649837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18043C-ADCA-E506-A53F-6106DC6D67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389166A-90A2-02A6-9B0D-4A8D39C2B104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2192000" cy="549275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ctr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3200" kern="1200">
                <a:solidFill>
                  <a:srgbClr val="008CD6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Segoe UI" panose="020B0502040204020203" pitchFamily="34" charset="0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29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軟正黑體" panose="020B0604030504040204" pitchFamily="34" charset="-120"/>
              <a:ea typeface="微軟正黑體" panose="020B0604030504040204" pitchFamily="34" charset="-120"/>
              <a:cs typeface="Segoe UI" panose="020B0502040204020203" pitchFamily="34" charset="0"/>
            </a:endParaRPr>
          </a:p>
        </p:txBody>
      </p:sp>
      <p:sp>
        <p:nvSpPr>
          <p:cNvPr id="3" name="標題 1">
            <a:extLst>
              <a:ext uri="{FF2B5EF4-FFF2-40B4-BE49-F238E27FC236}">
                <a16:creationId xmlns:a16="http://schemas.microsoft.com/office/drawing/2014/main" id="{4BC5701C-45BE-33AB-7C8F-A19E717FFC46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2192000" cy="549275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ctr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3200" kern="1200">
                <a:solidFill>
                  <a:srgbClr val="008CD6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Segoe UI" panose="020B0502040204020203" pitchFamily="34" charset="0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29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軟正黑體" panose="020B0604030504040204" pitchFamily="34" charset="-120"/>
              <a:ea typeface="微軟正黑體" panose="020B0604030504040204" pitchFamily="34" charset="-120"/>
              <a:cs typeface="Segoe UI" panose="020B0502040204020203" pitchFamily="34" charset="0"/>
            </a:endParaRPr>
          </a:p>
        </p:txBody>
      </p:sp>
      <p:sp>
        <p:nvSpPr>
          <p:cNvPr id="4" name="標題 1">
            <a:extLst>
              <a:ext uri="{FF2B5EF4-FFF2-40B4-BE49-F238E27FC236}">
                <a16:creationId xmlns:a16="http://schemas.microsoft.com/office/drawing/2014/main" id="{880C571F-0165-227E-CBD9-3C60590DE78F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2192000" cy="549275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ctr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3200" kern="1200">
                <a:solidFill>
                  <a:srgbClr val="008CD6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Segoe UI" panose="020B0502040204020203" pitchFamily="34" charset="0"/>
              </a:defRPr>
            </a:lvl1pPr>
          </a:lstStyle>
          <a:p>
            <a:pPr lvl="0">
              <a:defRPr/>
            </a:pPr>
            <a:r>
              <a:rPr lang="en-US" altLang="zh-TW" sz="2800" dirty="0">
                <a:solidFill>
                  <a:schemeClr val="tx1"/>
                </a:solidFill>
                <a:latin typeface="+mn-ea"/>
              </a:rPr>
              <a:t>Hybrid A*</a:t>
            </a:r>
            <a:r>
              <a:rPr kumimoji="0" lang="en-US" altLang="zh-TW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微軟正黑體" panose="020B0604030504040204" pitchFamily="34" charset="-120"/>
                <a:cs typeface="Segoe UI" panose="020B0502040204020203" pitchFamily="34" charset="0"/>
              </a:rPr>
              <a:t> </a:t>
            </a:r>
            <a:r>
              <a:rPr lang="zh-TW" altLang="en-US" sz="2800" dirty="0">
                <a:solidFill>
                  <a:schemeClr val="tx1"/>
                </a:solidFill>
                <a:latin typeface="+mn-ea"/>
              </a:rPr>
              <a:t>演算法測試 </a:t>
            </a:r>
            <a:r>
              <a:rPr lang="en-US" altLang="zh-TW" sz="2800" dirty="0">
                <a:solidFill>
                  <a:schemeClr val="tx1"/>
                </a:solidFill>
                <a:latin typeface="+mn-ea"/>
              </a:rPr>
              <a:t>(6)</a:t>
            </a:r>
            <a:endParaRPr kumimoji="0" lang="en-US" altLang="zh-TW" sz="29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軟正黑體" panose="020B0604030504040204" pitchFamily="34" charset="-120"/>
              <a:ea typeface="微軟正黑體" panose="020B0604030504040204" pitchFamily="34" charset="-120"/>
              <a:cs typeface="Segoe UI" panose="020B0502040204020203" pitchFamily="34" charset="0"/>
            </a:endParaRPr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01017001-8884-6A06-CCF3-3DEB161595DA}"/>
              </a:ext>
            </a:extLst>
          </p:cNvPr>
          <p:cNvSpPr txBox="1"/>
          <p:nvPr/>
        </p:nvSpPr>
        <p:spPr>
          <a:xfrm>
            <a:off x="611443" y="1997839"/>
            <a:ext cx="3867913" cy="28623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altLang="zh-TW" dirty="0" err="1"/>
              <a:t>self.step_size</a:t>
            </a:r>
            <a:r>
              <a:rPr lang="en-US" altLang="zh-TW" dirty="0"/>
              <a:t> = 0.06</a:t>
            </a:r>
          </a:p>
          <a:p>
            <a:r>
              <a:rPr lang="en-US" altLang="zh-TW" dirty="0" err="1"/>
              <a:t>self.reverse_penalty</a:t>
            </a:r>
            <a:r>
              <a:rPr lang="en-US" altLang="zh-TW" dirty="0"/>
              <a:t> = 0.3</a:t>
            </a:r>
          </a:p>
          <a:p>
            <a:r>
              <a:rPr lang="en-US" altLang="zh-TW" dirty="0" err="1"/>
              <a:t>self.change_dir_penalty</a:t>
            </a:r>
            <a:r>
              <a:rPr lang="en-US" altLang="zh-TW" dirty="0"/>
              <a:t> = 0.8</a:t>
            </a:r>
          </a:p>
          <a:p>
            <a:r>
              <a:rPr lang="en-US" altLang="zh-TW" b="1" dirty="0" err="1">
                <a:solidFill>
                  <a:srgbClr val="00B0F0"/>
                </a:solidFill>
              </a:rPr>
              <a:t>self.steering_penalty</a:t>
            </a:r>
            <a:r>
              <a:rPr lang="en-US" altLang="zh-TW" b="1" dirty="0">
                <a:solidFill>
                  <a:srgbClr val="00B0F0"/>
                </a:solidFill>
              </a:rPr>
              <a:t> = 0.8</a:t>
            </a:r>
          </a:p>
          <a:p>
            <a:r>
              <a:rPr lang="zh-TW" altLang="zh-TW" dirty="0"/>
              <a:t>dist &lt; 0.1</a:t>
            </a:r>
            <a:r>
              <a:rPr lang="en-US" altLang="zh-TW" dirty="0"/>
              <a:t> </a:t>
            </a:r>
            <a:r>
              <a:rPr lang="zh-TW" altLang="zh-TW" dirty="0"/>
              <a:t>and angle_diff &lt; np.radians(45)</a:t>
            </a:r>
            <a:r>
              <a:rPr lang="en-US" altLang="zh-TW" dirty="0"/>
              <a:t> </a:t>
            </a:r>
            <a:r>
              <a:rPr lang="zh-TW" altLang="zh-TW" dirty="0"/>
              <a:t>and goal_angle_diff &lt; np.radians(45)</a:t>
            </a:r>
          </a:p>
          <a:p>
            <a:r>
              <a:rPr lang="zh-TW" altLang="zh-TW" dirty="0"/>
              <a:t>self.costmap.add_obstacle(x=0.</a:t>
            </a:r>
            <a:r>
              <a:rPr lang="en-US" altLang="zh-TW" dirty="0"/>
              <a:t>9</a:t>
            </a:r>
            <a:r>
              <a:rPr lang="zh-TW" altLang="zh-TW" dirty="0"/>
              <a:t>, y=0.1, radius=0.2, inflation_radius=0.35)</a:t>
            </a:r>
          </a:p>
        </p:txBody>
      </p:sp>
      <p:pic>
        <p:nvPicPr>
          <p:cNvPr id="10" name="圖片 9">
            <a:extLst>
              <a:ext uri="{FF2B5EF4-FFF2-40B4-BE49-F238E27FC236}">
                <a16:creationId xmlns:a16="http://schemas.microsoft.com/office/drawing/2014/main" id="{0B8C33B6-7C8C-C7E3-2C55-5BB37DB86C8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60433" y="609372"/>
            <a:ext cx="6950223" cy="56392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611309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219BF8-0D9A-96A4-1418-9291321F5D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ADA044B-88C6-722B-DA50-D8EA159A3B8D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2192000" cy="549275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ctr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3200" kern="1200">
                <a:solidFill>
                  <a:srgbClr val="008CD6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Segoe UI" panose="020B0502040204020203" pitchFamily="34" charset="0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29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軟正黑體" panose="020B0604030504040204" pitchFamily="34" charset="-120"/>
              <a:ea typeface="微軟正黑體" panose="020B0604030504040204" pitchFamily="34" charset="-120"/>
              <a:cs typeface="Segoe UI" panose="020B0502040204020203" pitchFamily="34" charset="0"/>
            </a:endParaRPr>
          </a:p>
        </p:txBody>
      </p:sp>
      <p:sp>
        <p:nvSpPr>
          <p:cNvPr id="3" name="標題 1">
            <a:extLst>
              <a:ext uri="{FF2B5EF4-FFF2-40B4-BE49-F238E27FC236}">
                <a16:creationId xmlns:a16="http://schemas.microsoft.com/office/drawing/2014/main" id="{C3153C91-BCB7-5988-FB75-4F25F622A5CD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2192000" cy="549275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ctr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3200" kern="1200">
                <a:solidFill>
                  <a:srgbClr val="008CD6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Segoe UI" panose="020B0502040204020203" pitchFamily="34" charset="0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29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軟正黑體" panose="020B0604030504040204" pitchFamily="34" charset="-120"/>
              <a:ea typeface="微軟正黑體" panose="020B0604030504040204" pitchFamily="34" charset="-120"/>
              <a:cs typeface="Segoe UI" panose="020B0502040204020203" pitchFamily="34" charset="0"/>
            </a:endParaRPr>
          </a:p>
        </p:txBody>
      </p:sp>
      <p:sp>
        <p:nvSpPr>
          <p:cNvPr id="4" name="標題 1">
            <a:extLst>
              <a:ext uri="{FF2B5EF4-FFF2-40B4-BE49-F238E27FC236}">
                <a16:creationId xmlns:a16="http://schemas.microsoft.com/office/drawing/2014/main" id="{56C558A8-D0E7-50C2-5FCE-8AA6FE64C1CE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2192000" cy="549275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ctr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3200" kern="1200">
                <a:solidFill>
                  <a:srgbClr val="008CD6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Segoe UI" panose="020B0502040204020203" pitchFamily="34" charset="0"/>
              </a:defRPr>
            </a:lvl1pPr>
          </a:lstStyle>
          <a:p>
            <a:pPr lvl="0">
              <a:defRPr/>
            </a:pPr>
            <a:r>
              <a:rPr lang="en-US" altLang="zh-TW" sz="2800" dirty="0">
                <a:solidFill>
                  <a:schemeClr val="tx1"/>
                </a:solidFill>
                <a:latin typeface="+mn-ea"/>
              </a:rPr>
              <a:t>Hybrid A*</a:t>
            </a:r>
            <a:r>
              <a:rPr kumimoji="0" lang="en-US" altLang="zh-TW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微軟正黑體" panose="020B0604030504040204" pitchFamily="34" charset="-120"/>
                <a:cs typeface="Segoe UI" panose="020B0502040204020203" pitchFamily="34" charset="0"/>
              </a:rPr>
              <a:t> </a:t>
            </a:r>
            <a:r>
              <a:rPr lang="zh-TW" altLang="en-US" sz="2800" dirty="0">
                <a:solidFill>
                  <a:schemeClr val="tx1"/>
                </a:solidFill>
                <a:latin typeface="+mn-ea"/>
              </a:rPr>
              <a:t>演算法測試 </a:t>
            </a:r>
            <a:r>
              <a:rPr lang="en-US" altLang="zh-TW" sz="2800" dirty="0">
                <a:solidFill>
                  <a:schemeClr val="tx1"/>
                </a:solidFill>
                <a:latin typeface="+mn-ea"/>
              </a:rPr>
              <a:t>(7)</a:t>
            </a:r>
            <a:endParaRPr kumimoji="0" lang="en-US" altLang="zh-TW" sz="29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軟正黑體" panose="020B0604030504040204" pitchFamily="34" charset="-120"/>
              <a:ea typeface="微軟正黑體" panose="020B0604030504040204" pitchFamily="34" charset="-120"/>
              <a:cs typeface="Segoe UI" panose="020B0502040204020203" pitchFamily="34" charset="0"/>
            </a:endParaRPr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E99C1D7F-A9F7-3C13-4A05-827B35FE62B4}"/>
              </a:ext>
            </a:extLst>
          </p:cNvPr>
          <p:cNvSpPr txBox="1"/>
          <p:nvPr/>
        </p:nvSpPr>
        <p:spPr>
          <a:xfrm>
            <a:off x="611443" y="1997839"/>
            <a:ext cx="3867913" cy="28623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altLang="zh-TW" dirty="0" err="1"/>
              <a:t>self.step_size</a:t>
            </a:r>
            <a:r>
              <a:rPr lang="en-US" altLang="zh-TW" dirty="0"/>
              <a:t> = 0.06</a:t>
            </a:r>
          </a:p>
          <a:p>
            <a:r>
              <a:rPr lang="en-US" altLang="zh-TW" dirty="0" err="1"/>
              <a:t>self.reverse_penalty</a:t>
            </a:r>
            <a:r>
              <a:rPr lang="en-US" altLang="zh-TW" dirty="0"/>
              <a:t> = 0.3</a:t>
            </a:r>
          </a:p>
          <a:p>
            <a:r>
              <a:rPr lang="en-US" altLang="zh-TW" dirty="0" err="1"/>
              <a:t>self.change_dir_penalty</a:t>
            </a:r>
            <a:r>
              <a:rPr lang="en-US" altLang="zh-TW" dirty="0"/>
              <a:t> = 0.8</a:t>
            </a:r>
          </a:p>
          <a:p>
            <a:r>
              <a:rPr lang="en-US" altLang="zh-TW" b="1" dirty="0" err="1">
                <a:solidFill>
                  <a:srgbClr val="00B0F0"/>
                </a:solidFill>
              </a:rPr>
              <a:t>self.steering_penalty</a:t>
            </a:r>
            <a:r>
              <a:rPr lang="en-US" altLang="zh-TW" b="1" dirty="0">
                <a:solidFill>
                  <a:srgbClr val="00B0F0"/>
                </a:solidFill>
              </a:rPr>
              <a:t> = 2.0</a:t>
            </a:r>
          </a:p>
          <a:p>
            <a:r>
              <a:rPr lang="zh-TW" altLang="zh-TW" dirty="0"/>
              <a:t>dist &lt; 0.1</a:t>
            </a:r>
            <a:r>
              <a:rPr lang="en-US" altLang="zh-TW" dirty="0"/>
              <a:t> </a:t>
            </a:r>
            <a:r>
              <a:rPr lang="zh-TW" altLang="zh-TW" dirty="0"/>
              <a:t>and angle_diff &lt; np.radians(45)</a:t>
            </a:r>
            <a:r>
              <a:rPr lang="en-US" altLang="zh-TW" dirty="0"/>
              <a:t> </a:t>
            </a:r>
            <a:r>
              <a:rPr lang="zh-TW" altLang="zh-TW" dirty="0"/>
              <a:t>and goal_angle_diff &lt; np.radians(45)</a:t>
            </a:r>
          </a:p>
          <a:p>
            <a:r>
              <a:rPr lang="zh-TW" altLang="zh-TW" dirty="0"/>
              <a:t>self.costmap.add_obstacle(x=0.</a:t>
            </a:r>
            <a:r>
              <a:rPr lang="en-US" altLang="zh-TW" dirty="0"/>
              <a:t>9</a:t>
            </a:r>
            <a:r>
              <a:rPr lang="zh-TW" altLang="zh-TW" dirty="0"/>
              <a:t>, y=0.1, radius=0.2, inflation_radius=0.35)</a:t>
            </a:r>
          </a:p>
        </p:txBody>
      </p:sp>
      <p:pic>
        <p:nvPicPr>
          <p:cNvPr id="9" name="圖片 8">
            <a:extLst>
              <a:ext uri="{FF2B5EF4-FFF2-40B4-BE49-F238E27FC236}">
                <a16:creationId xmlns:a16="http://schemas.microsoft.com/office/drawing/2014/main" id="{9970317D-5467-50B8-AA56-C91A9C19305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60432" y="609372"/>
            <a:ext cx="7015189" cy="56392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661474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6AF1E7-B89B-EFBD-E33D-7492A49530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47A37E6-2E4B-A3B2-FCE2-9C4F02FEA26E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2192000" cy="549275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ctr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3200" kern="1200">
                <a:solidFill>
                  <a:srgbClr val="008CD6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Segoe UI" panose="020B0502040204020203" pitchFamily="34" charset="0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29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軟正黑體" panose="020B0604030504040204" pitchFamily="34" charset="-120"/>
              <a:ea typeface="微軟正黑體" panose="020B0604030504040204" pitchFamily="34" charset="-120"/>
              <a:cs typeface="Segoe UI" panose="020B0502040204020203" pitchFamily="34" charset="0"/>
            </a:endParaRPr>
          </a:p>
        </p:txBody>
      </p:sp>
      <p:sp>
        <p:nvSpPr>
          <p:cNvPr id="3" name="標題 1">
            <a:extLst>
              <a:ext uri="{FF2B5EF4-FFF2-40B4-BE49-F238E27FC236}">
                <a16:creationId xmlns:a16="http://schemas.microsoft.com/office/drawing/2014/main" id="{3435C8A6-4D80-48FA-2D1B-8C801898F361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2192000" cy="549275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ctr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3200" kern="1200">
                <a:solidFill>
                  <a:srgbClr val="008CD6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Segoe UI" panose="020B0502040204020203" pitchFamily="34" charset="0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29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軟正黑體" panose="020B0604030504040204" pitchFamily="34" charset="-120"/>
              <a:ea typeface="微軟正黑體" panose="020B0604030504040204" pitchFamily="34" charset="-120"/>
              <a:cs typeface="Segoe UI" panose="020B0502040204020203" pitchFamily="34" charset="0"/>
            </a:endParaRPr>
          </a:p>
        </p:txBody>
      </p:sp>
      <p:sp>
        <p:nvSpPr>
          <p:cNvPr id="4" name="標題 1">
            <a:extLst>
              <a:ext uri="{FF2B5EF4-FFF2-40B4-BE49-F238E27FC236}">
                <a16:creationId xmlns:a16="http://schemas.microsoft.com/office/drawing/2014/main" id="{810BDC57-8855-05B1-27D5-56F80FE12BB3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2192000" cy="549275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ctr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3200" kern="1200">
                <a:solidFill>
                  <a:srgbClr val="008CD6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Segoe UI" panose="020B0502040204020203" pitchFamily="34" charset="0"/>
              </a:defRPr>
            </a:lvl1pPr>
          </a:lstStyle>
          <a:p>
            <a:pPr lvl="0">
              <a:defRPr/>
            </a:pPr>
            <a:r>
              <a:rPr lang="en-US" altLang="zh-TW" sz="2800" dirty="0">
                <a:solidFill>
                  <a:schemeClr val="tx1"/>
                </a:solidFill>
                <a:latin typeface="+mn-ea"/>
              </a:rPr>
              <a:t>Hybrid A*</a:t>
            </a:r>
            <a:r>
              <a:rPr kumimoji="0" lang="en-US" altLang="zh-TW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微軟正黑體" panose="020B0604030504040204" pitchFamily="34" charset="-120"/>
                <a:cs typeface="Segoe UI" panose="020B0502040204020203" pitchFamily="34" charset="0"/>
              </a:rPr>
              <a:t> </a:t>
            </a:r>
            <a:r>
              <a:rPr lang="zh-TW" altLang="en-US" sz="2800" dirty="0">
                <a:solidFill>
                  <a:schemeClr val="tx1"/>
                </a:solidFill>
                <a:latin typeface="+mn-ea"/>
              </a:rPr>
              <a:t>演算法測試 </a:t>
            </a:r>
            <a:r>
              <a:rPr lang="en-US" altLang="zh-TW" sz="2800" dirty="0">
                <a:solidFill>
                  <a:schemeClr val="tx1"/>
                </a:solidFill>
                <a:latin typeface="+mn-ea"/>
              </a:rPr>
              <a:t>(8)</a:t>
            </a:r>
            <a:endParaRPr kumimoji="0" lang="en-US" altLang="zh-TW" sz="29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軟正黑體" panose="020B0604030504040204" pitchFamily="34" charset="-120"/>
              <a:ea typeface="微軟正黑體" panose="020B0604030504040204" pitchFamily="34" charset="-120"/>
              <a:cs typeface="Segoe UI" panose="020B0502040204020203" pitchFamily="34" charset="0"/>
            </a:endParaRPr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B0F8704F-73A4-FC2A-BF4B-FFE93835084D}"/>
              </a:ext>
            </a:extLst>
          </p:cNvPr>
          <p:cNvSpPr txBox="1"/>
          <p:nvPr/>
        </p:nvSpPr>
        <p:spPr>
          <a:xfrm>
            <a:off x="611443" y="1997839"/>
            <a:ext cx="3867913" cy="28623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altLang="zh-TW" dirty="0" err="1"/>
              <a:t>self.step_size</a:t>
            </a:r>
            <a:r>
              <a:rPr lang="en-US" altLang="zh-TW" dirty="0"/>
              <a:t> = 0.06</a:t>
            </a:r>
          </a:p>
          <a:p>
            <a:r>
              <a:rPr lang="en-US" altLang="zh-TW" b="1" dirty="0" err="1">
                <a:solidFill>
                  <a:srgbClr val="00B0F0"/>
                </a:solidFill>
              </a:rPr>
              <a:t>self.reverse_penalty</a:t>
            </a:r>
            <a:r>
              <a:rPr lang="en-US" altLang="zh-TW" b="1" dirty="0">
                <a:solidFill>
                  <a:srgbClr val="00B0F0"/>
                </a:solidFill>
              </a:rPr>
              <a:t> = 2.0</a:t>
            </a:r>
          </a:p>
          <a:p>
            <a:r>
              <a:rPr lang="en-US" altLang="zh-TW" dirty="0" err="1"/>
              <a:t>self.change_dir_penalty</a:t>
            </a:r>
            <a:r>
              <a:rPr lang="en-US" altLang="zh-TW" dirty="0"/>
              <a:t> = 0.8</a:t>
            </a:r>
          </a:p>
          <a:p>
            <a:r>
              <a:rPr lang="en-US" altLang="zh-TW" dirty="0" err="1"/>
              <a:t>self.steering_penalty</a:t>
            </a:r>
            <a:r>
              <a:rPr lang="en-US" altLang="zh-TW" dirty="0"/>
              <a:t> = 0.1</a:t>
            </a:r>
          </a:p>
          <a:p>
            <a:r>
              <a:rPr lang="zh-TW" altLang="zh-TW" dirty="0"/>
              <a:t>dist &lt; 0.1</a:t>
            </a:r>
            <a:r>
              <a:rPr lang="en-US" altLang="zh-TW" dirty="0"/>
              <a:t> </a:t>
            </a:r>
            <a:r>
              <a:rPr lang="zh-TW" altLang="zh-TW" dirty="0"/>
              <a:t>and angle_diff &lt; np.radians(45)</a:t>
            </a:r>
            <a:r>
              <a:rPr lang="en-US" altLang="zh-TW" dirty="0"/>
              <a:t> </a:t>
            </a:r>
            <a:r>
              <a:rPr lang="zh-TW" altLang="zh-TW" dirty="0"/>
              <a:t>and goal_angle_diff &lt; np.radians(45)</a:t>
            </a:r>
          </a:p>
          <a:p>
            <a:r>
              <a:rPr lang="zh-TW" altLang="zh-TW" dirty="0"/>
              <a:t>self.costmap.add_obstacle(x=0.</a:t>
            </a:r>
            <a:r>
              <a:rPr lang="en-US" altLang="zh-TW" dirty="0"/>
              <a:t>9</a:t>
            </a:r>
            <a:r>
              <a:rPr lang="zh-TW" altLang="zh-TW" dirty="0"/>
              <a:t>, y=0.1, radius=0.2, inflation_radius=0.35)</a:t>
            </a:r>
          </a:p>
        </p:txBody>
      </p:sp>
      <p:pic>
        <p:nvPicPr>
          <p:cNvPr id="10" name="圖片 9">
            <a:extLst>
              <a:ext uri="{FF2B5EF4-FFF2-40B4-BE49-F238E27FC236}">
                <a16:creationId xmlns:a16="http://schemas.microsoft.com/office/drawing/2014/main" id="{E309C4DA-B7E5-7079-C43D-34D26CF54F0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56388" y="609373"/>
            <a:ext cx="7023055" cy="56392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863039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A58ADD-F68E-54F1-BFBB-AA61127863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5EC4D5B-45FC-7178-4265-0396533FEDF1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2192000" cy="549275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ctr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3200" kern="1200">
                <a:solidFill>
                  <a:srgbClr val="008CD6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Segoe UI" panose="020B0502040204020203" pitchFamily="34" charset="0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29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軟正黑體" panose="020B0604030504040204" pitchFamily="34" charset="-120"/>
              <a:ea typeface="微軟正黑體" panose="020B0604030504040204" pitchFamily="34" charset="-120"/>
              <a:cs typeface="Segoe UI" panose="020B0502040204020203" pitchFamily="34" charset="0"/>
            </a:endParaRPr>
          </a:p>
        </p:txBody>
      </p:sp>
      <p:sp>
        <p:nvSpPr>
          <p:cNvPr id="3" name="標題 1">
            <a:extLst>
              <a:ext uri="{FF2B5EF4-FFF2-40B4-BE49-F238E27FC236}">
                <a16:creationId xmlns:a16="http://schemas.microsoft.com/office/drawing/2014/main" id="{FCC7B5EF-0902-AF7D-9886-B01BA9ED1629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2192000" cy="549275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ctr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3200" kern="1200">
                <a:solidFill>
                  <a:srgbClr val="008CD6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Segoe UI" panose="020B0502040204020203" pitchFamily="34" charset="0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29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軟正黑體" panose="020B0604030504040204" pitchFamily="34" charset="-120"/>
              <a:ea typeface="微軟正黑體" panose="020B0604030504040204" pitchFamily="34" charset="-120"/>
              <a:cs typeface="Segoe UI" panose="020B0502040204020203" pitchFamily="34" charset="0"/>
            </a:endParaRPr>
          </a:p>
        </p:txBody>
      </p:sp>
      <p:sp>
        <p:nvSpPr>
          <p:cNvPr id="4" name="標題 1">
            <a:extLst>
              <a:ext uri="{FF2B5EF4-FFF2-40B4-BE49-F238E27FC236}">
                <a16:creationId xmlns:a16="http://schemas.microsoft.com/office/drawing/2014/main" id="{81C86C69-5E36-F3EE-89E9-DE60A5222364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2192000" cy="549275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ctr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3200" kern="1200">
                <a:solidFill>
                  <a:srgbClr val="008CD6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Segoe UI" panose="020B0502040204020203" pitchFamily="34" charset="0"/>
              </a:defRPr>
            </a:lvl1pPr>
          </a:lstStyle>
          <a:p>
            <a:pPr lvl="0">
              <a:defRPr/>
            </a:pPr>
            <a:r>
              <a:rPr lang="en-US" altLang="zh-TW" sz="2800" dirty="0">
                <a:solidFill>
                  <a:schemeClr val="tx1"/>
                </a:solidFill>
                <a:latin typeface="+mn-ea"/>
              </a:rPr>
              <a:t>Hybrid A*</a:t>
            </a:r>
            <a:r>
              <a:rPr kumimoji="0" lang="en-US" altLang="zh-TW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微軟正黑體" panose="020B0604030504040204" pitchFamily="34" charset="-120"/>
                <a:cs typeface="Segoe UI" panose="020B0502040204020203" pitchFamily="34" charset="0"/>
              </a:rPr>
              <a:t> </a:t>
            </a:r>
            <a:r>
              <a:rPr lang="zh-TW" altLang="en-US" sz="2800" dirty="0">
                <a:solidFill>
                  <a:schemeClr val="tx1"/>
                </a:solidFill>
                <a:latin typeface="+mn-ea"/>
              </a:rPr>
              <a:t>演算法測試 </a:t>
            </a:r>
            <a:r>
              <a:rPr lang="en-US" altLang="zh-TW" sz="2800" dirty="0">
                <a:solidFill>
                  <a:schemeClr val="tx1"/>
                </a:solidFill>
                <a:latin typeface="+mn-ea"/>
              </a:rPr>
              <a:t>(9)</a:t>
            </a:r>
            <a:endParaRPr kumimoji="0" lang="en-US" altLang="zh-TW" sz="29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軟正黑體" panose="020B0604030504040204" pitchFamily="34" charset="-120"/>
              <a:ea typeface="微軟正黑體" panose="020B0604030504040204" pitchFamily="34" charset="-120"/>
              <a:cs typeface="Segoe UI" panose="020B0502040204020203" pitchFamily="34" charset="0"/>
            </a:endParaRPr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A521906D-080E-EDCD-C6D2-CC8F2FFB58EA}"/>
              </a:ext>
            </a:extLst>
          </p:cNvPr>
          <p:cNvSpPr txBox="1"/>
          <p:nvPr/>
        </p:nvSpPr>
        <p:spPr>
          <a:xfrm>
            <a:off x="611443" y="1997839"/>
            <a:ext cx="3867913" cy="28623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altLang="zh-TW" dirty="0" err="1"/>
              <a:t>self.step_size</a:t>
            </a:r>
            <a:r>
              <a:rPr lang="en-US" altLang="zh-TW" dirty="0"/>
              <a:t> = 0.06</a:t>
            </a:r>
          </a:p>
          <a:p>
            <a:r>
              <a:rPr lang="en-US" altLang="zh-TW" b="1" dirty="0" err="1">
                <a:solidFill>
                  <a:srgbClr val="00B0F0"/>
                </a:solidFill>
              </a:rPr>
              <a:t>self.reverse_penalty</a:t>
            </a:r>
            <a:r>
              <a:rPr lang="en-US" altLang="zh-TW" b="1" dirty="0">
                <a:solidFill>
                  <a:srgbClr val="00B0F0"/>
                </a:solidFill>
              </a:rPr>
              <a:t> = 10.0</a:t>
            </a:r>
          </a:p>
          <a:p>
            <a:r>
              <a:rPr lang="en-US" altLang="zh-TW" dirty="0" err="1"/>
              <a:t>self.change_dir_penalty</a:t>
            </a:r>
            <a:r>
              <a:rPr lang="en-US" altLang="zh-TW" dirty="0"/>
              <a:t> = 0.8</a:t>
            </a:r>
          </a:p>
          <a:p>
            <a:r>
              <a:rPr lang="en-US" altLang="zh-TW" dirty="0" err="1"/>
              <a:t>self.steering_penalty</a:t>
            </a:r>
            <a:r>
              <a:rPr lang="en-US" altLang="zh-TW" dirty="0"/>
              <a:t> = 0.1</a:t>
            </a:r>
          </a:p>
          <a:p>
            <a:r>
              <a:rPr lang="zh-TW" altLang="zh-TW" dirty="0"/>
              <a:t>dist &lt; 0.1</a:t>
            </a:r>
            <a:r>
              <a:rPr lang="en-US" altLang="zh-TW" dirty="0"/>
              <a:t> </a:t>
            </a:r>
            <a:r>
              <a:rPr lang="zh-TW" altLang="zh-TW" dirty="0"/>
              <a:t>and angle_diff &lt; np.radians(45)</a:t>
            </a:r>
            <a:r>
              <a:rPr lang="en-US" altLang="zh-TW" dirty="0"/>
              <a:t> </a:t>
            </a:r>
            <a:r>
              <a:rPr lang="zh-TW" altLang="zh-TW" dirty="0"/>
              <a:t>and goal_angle_diff &lt; np.radians(45)</a:t>
            </a:r>
          </a:p>
          <a:p>
            <a:r>
              <a:rPr lang="zh-TW" altLang="zh-TW" dirty="0"/>
              <a:t>self.costmap.add_obstacle(x=0.</a:t>
            </a:r>
            <a:r>
              <a:rPr lang="en-US" altLang="zh-TW" dirty="0"/>
              <a:t>9</a:t>
            </a:r>
            <a:r>
              <a:rPr lang="zh-TW" altLang="zh-TW" dirty="0"/>
              <a:t>, y=0.1, radius=0.2, inflation_radius=0.35)</a:t>
            </a:r>
          </a:p>
        </p:txBody>
      </p:sp>
      <p:pic>
        <p:nvPicPr>
          <p:cNvPr id="9" name="圖片 8">
            <a:extLst>
              <a:ext uri="{FF2B5EF4-FFF2-40B4-BE49-F238E27FC236}">
                <a16:creationId xmlns:a16="http://schemas.microsoft.com/office/drawing/2014/main" id="{84FAF717-EF3D-EFC9-1F3C-B971A3BB816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56388" y="609373"/>
            <a:ext cx="6814528" cy="56392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587709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57C12C-5F24-DE08-62C7-5AB584E08B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D3672BF-3E9F-DDBB-CC6B-38149E6C4892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2192000" cy="549275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ctr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3200" kern="1200">
                <a:solidFill>
                  <a:srgbClr val="008CD6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Segoe UI" panose="020B0502040204020203" pitchFamily="34" charset="0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29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軟正黑體" panose="020B0604030504040204" pitchFamily="34" charset="-120"/>
              <a:ea typeface="微軟正黑體" panose="020B0604030504040204" pitchFamily="34" charset="-120"/>
              <a:cs typeface="Segoe UI" panose="020B0502040204020203" pitchFamily="34" charset="0"/>
            </a:endParaRPr>
          </a:p>
        </p:txBody>
      </p:sp>
      <p:sp>
        <p:nvSpPr>
          <p:cNvPr id="3" name="標題 1">
            <a:extLst>
              <a:ext uri="{FF2B5EF4-FFF2-40B4-BE49-F238E27FC236}">
                <a16:creationId xmlns:a16="http://schemas.microsoft.com/office/drawing/2014/main" id="{5D08A850-81C9-BB7A-210D-8412C75F63F1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2192000" cy="549275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ctr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3200" kern="1200">
                <a:solidFill>
                  <a:srgbClr val="008CD6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Segoe UI" panose="020B0502040204020203" pitchFamily="34" charset="0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29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軟正黑體" panose="020B0604030504040204" pitchFamily="34" charset="-120"/>
              <a:ea typeface="微軟正黑體" panose="020B0604030504040204" pitchFamily="34" charset="-120"/>
              <a:cs typeface="Segoe UI" panose="020B0502040204020203" pitchFamily="34" charset="0"/>
            </a:endParaRPr>
          </a:p>
        </p:txBody>
      </p:sp>
      <p:sp>
        <p:nvSpPr>
          <p:cNvPr id="4" name="標題 1">
            <a:extLst>
              <a:ext uri="{FF2B5EF4-FFF2-40B4-BE49-F238E27FC236}">
                <a16:creationId xmlns:a16="http://schemas.microsoft.com/office/drawing/2014/main" id="{13FE67D6-8FAE-5E0D-02E6-30FFCE486A7B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2192000" cy="549275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ctr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3200" kern="1200">
                <a:solidFill>
                  <a:srgbClr val="008CD6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Segoe UI" panose="020B0502040204020203" pitchFamily="34" charset="0"/>
              </a:defRPr>
            </a:lvl1pPr>
          </a:lstStyle>
          <a:p>
            <a:pPr lvl="0">
              <a:defRPr/>
            </a:pPr>
            <a:r>
              <a:rPr lang="en-US" altLang="zh-TW" sz="2800" dirty="0">
                <a:solidFill>
                  <a:schemeClr val="tx1"/>
                </a:solidFill>
                <a:latin typeface="+mn-ea"/>
              </a:rPr>
              <a:t>Hybrid A*</a:t>
            </a:r>
            <a:r>
              <a:rPr kumimoji="0" lang="en-US" altLang="zh-TW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微軟正黑體" panose="020B0604030504040204" pitchFamily="34" charset="-120"/>
                <a:cs typeface="Segoe UI" panose="020B0502040204020203" pitchFamily="34" charset="0"/>
              </a:rPr>
              <a:t> </a:t>
            </a:r>
            <a:r>
              <a:rPr lang="zh-TW" altLang="en-US" sz="2800" dirty="0">
                <a:solidFill>
                  <a:schemeClr val="tx1"/>
                </a:solidFill>
                <a:latin typeface="+mn-ea"/>
              </a:rPr>
              <a:t>演算法測試 </a:t>
            </a:r>
            <a:r>
              <a:rPr lang="en-US" altLang="zh-TW" sz="2800" dirty="0">
                <a:solidFill>
                  <a:schemeClr val="tx1"/>
                </a:solidFill>
                <a:latin typeface="+mn-ea"/>
              </a:rPr>
              <a:t>(10)</a:t>
            </a:r>
            <a:endParaRPr kumimoji="0" lang="en-US" altLang="zh-TW" sz="29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軟正黑體" panose="020B0604030504040204" pitchFamily="34" charset="-120"/>
              <a:ea typeface="微軟正黑體" panose="020B0604030504040204" pitchFamily="34" charset="-120"/>
              <a:cs typeface="Segoe UI" panose="020B0502040204020203" pitchFamily="34" charset="0"/>
            </a:endParaRPr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E70D001A-8F47-041C-D51B-6277190A98F8}"/>
              </a:ext>
            </a:extLst>
          </p:cNvPr>
          <p:cNvSpPr txBox="1"/>
          <p:nvPr/>
        </p:nvSpPr>
        <p:spPr>
          <a:xfrm>
            <a:off x="611443" y="1997839"/>
            <a:ext cx="3867913" cy="28623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altLang="zh-TW" dirty="0" err="1"/>
              <a:t>self.step_size</a:t>
            </a:r>
            <a:r>
              <a:rPr lang="en-US" altLang="zh-TW" dirty="0"/>
              <a:t> = 0.06</a:t>
            </a:r>
          </a:p>
          <a:p>
            <a:r>
              <a:rPr lang="en-US" altLang="zh-TW" dirty="0" err="1"/>
              <a:t>self.reverse_penalty</a:t>
            </a:r>
            <a:r>
              <a:rPr lang="en-US" altLang="zh-TW" dirty="0"/>
              <a:t> = 0.3</a:t>
            </a:r>
          </a:p>
          <a:p>
            <a:r>
              <a:rPr lang="en-US" altLang="zh-TW" b="1" dirty="0" err="1">
                <a:solidFill>
                  <a:srgbClr val="00B0F0"/>
                </a:solidFill>
              </a:rPr>
              <a:t>self.change_dir_penalty</a:t>
            </a:r>
            <a:r>
              <a:rPr lang="en-US" altLang="zh-TW" b="1" dirty="0">
                <a:solidFill>
                  <a:srgbClr val="00B0F0"/>
                </a:solidFill>
              </a:rPr>
              <a:t> = 0.1</a:t>
            </a:r>
          </a:p>
          <a:p>
            <a:r>
              <a:rPr lang="en-US" altLang="zh-TW" dirty="0" err="1"/>
              <a:t>self.steering_penalty</a:t>
            </a:r>
            <a:r>
              <a:rPr lang="en-US" altLang="zh-TW" dirty="0"/>
              <a:t> = 0.1</a:t>
            </a:r>
          </a:p>
          <a:p>
            <a:r>
              <a:rPr lang="zh-TW" altLang="zh-TW" dirty="0"/>
              <a:t>dist &lt; 0.1</a:t>
            </a:r>
            <a:r>
              <a:rPr lang="en-US" altLang="zh-TW" dirty="0"/>
              <a:t> </a:t>
            </a:r>
            <a:r>
              <a:rPr lang="zh-TW" altLang="zh-TW" dirty="0"/>
              <a:t>and angle_diff &lt; np.radians(45)</a:t>
            </a:r>
            <a:r>
              <a:rPr lang="en-US" altLang="zh-TW" dirty="0"/>
              <a:t> </a:t>
            </a:r>
            <a:r>
              <a:rPr lang="zh-TW" altLang="zh-TW" dirty="0"/>
              <a:t>and goal_angle_diff &lt; np.radians(45)</a:t>
            </a:r>
          </a:p>
          <a:p>
            <a:r>
              <a:rPr lang="zh-TW" altLang="zh-TW" dirty="0"/>
              <a:t>self.costmap.add_obstacle(x=0.</a:t>
            </a:r>
            <a:r>
              <a:rPr lang="en-US" altLang="zh-TW" dirty="0"/>
              <a:t>9</a:t>
            </a:r>
            <a:r>
              <a:rPr lang="zh-TW" altLang="zh-TW" dirty="0"/>
              <a:t>, y=0.1, radius=0.2, inflation_radius=0.35)</a:t>
            </a:r>
          </a:p>
        </p:txBody>
      </p:sp>
      <p:pic>
        <p:nvPicPr>
          <p:cNvPr id="10" name="圖片 9">
            <a:extLst>
              <a:ext uri="{FF2B5EF4-FFF2-40B4-BE49-F238E27FC236}">
                <a16:creationId xmlns:a16="http://schemas.microsoft.com/office/drawing/2014/main" id="{B4E90E46-43D5-3FFD-1228-66A7639CFCB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653"/>
          <a:stretch>
            <a:fillRect/>
          </a:stretch>
        </p:blipFill>
        <p:spPr>
          <a:xfrm>
            <a:off x="4656387" y="609373"/>
            <a:ext cx="6967025" cy="56392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548295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8C562F-A1DF-E28D-EE52-F67BC2EEBE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F6D8619-339F-3919-9AB0-1ADE63C4926C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2192000" cy="549275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ctr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3200" kern="1200">
                <a:solidFill>
                  <a:srgbClr val="008CD6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Segoe UI" panose="020B0502040204020203" pitchFamily="34" charset="0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29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軟正黑體" panose="020B0604030504040204" pitchFamily="34" charset="-120"/>
              <a:ea typeface="微軟正黑體" panose="020B0604030504040204" pitchFamily="34" charset="-120"/>
              <a:cs typeface="Segoe UI" panose="020B0502040204020203" pitchFamily="34" charset="0"/>
            </a:endParaRPr>
          </a:p>
        </p:txBody>
      </p:sp>
      <p:sp>
        <p:nvSpPr>
          <p:cNvPr id="3" name="標題 1">
            <a:extLst>
              <a:ext uri="{FF2B5EF4-FFF2-40B4-BE49-F238E27FC236}">
                <a16:creationId xmlns:a16="http://schemas.microsoft.com/office/drawing/2014/main" id="{6552CC30-4203-941C-E646-7D35CABD8832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2192000" cy="549275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ctr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3200" kern="1200">
                <a:solidFill>
                  <a:srgbClr val="008CD6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Segoe UI" panose="020B0502040204020203" pitchFamily="34" charset="0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29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軟正黑體" panose="020B0604030504040204" pitchFamily="34" charset="-120"/>
              <a:ea typeface="微軟正黑體" panose="020B0604030504040204" pitchFamily="34" charset="-120"/>
              <a:cs typeface="Segoe UI" panose="020B0502040204020203" pitchFamily="34" charset="0"/>
            </a:endParaRPr>
          </a:p>
        </p:txBody>
      </p:sp>
      <p:sp>
        <p:nvSpPr>
          <p:cNvPr id="4" name="標題 1">
            <a:extLst>
              <a:ext uri="{FF2B5EF4-FFF2-40B4-BE49-F238E27FC236}">
                <a16:creationId xmlns:a16="http://schemas.microsoft.com/office/drawing/2014/main" id="{1ABB37EF-1C91-7733-DA34-8AFE52853922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2192000" cy="549275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ctr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3200" kern="1200">
                <a:solidFill>
                  <a:srgbClr val="008CD6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Segoe UI" panose="020B0502040204020203" pitchFamily="34" charset="0"/>
              </a:defRPr>
            </a:lvl1pPr>
          </a:lstStyle>
          <a:p>
            <a:pPr lvl="0">
              <a:defRPr/>
            </a:pPr>
            <a:r>
              <a:rPr lang="en-US" altLang="zh-TW" sz="2800" dirty="0">
                <a:solidFill>
                  <a:schemeClr val="tx1"/>
                </a:solidFill>
                <a:latin typeface="+mn-ea"/>
              </a:rPr>
              <a:t>Hybrid A*</a:t>
            </a:r>
            <a:r>
              <a:rPr kumimoji="0" lang="en-US" altLang="zh-TW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微軟正黑體" panose="020B0604030504040204" pitchFamily="34" charset="-120"/>
                <a:cs typeface="Segoe UI" panose="020B0502040204020203" pitchFamily="34" charset="0"/>
              </a:rPr>
              <a:t> </a:t>
            </a:r>
            <a:r>
              <a:rPr lang="zh-TW" altLang="en-US" sz="2800" dirty="0">
                <a:solidFill>
                  <a:schemeClr val="tx1"/>
                </a:solidFill>
                <a:latin typeface="+mn-ea"/>
              </a:rPr>
              <a:t>演算法測試 </a:t>
            </a:r>
            <a:r>
              <a:rPr lang="en-US" altLang="zh-TW" sz="2800" dirty="0">
                <a:solidFill>
                  <a:schemeClr val="tx1"/>
                </a:solidFill>
                <a:latin typeface="+mn-ea"/>
              </a:rPr>
              <a:t>(11)</a:t>
            </a:r>
            <a:endParaRPr kumimoji="0" lang="en-US" altLang="zh-TW" sz="29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軟正黑體" panose="020B0604030504040204" pitchFamily="34" charset="-120"/>
              <a:ea typeface="微軟正黑體" panose="020B0604030504040204" pitchFamily="34" charset="-120"/>
              <a:cs typeface="Segoe UI" panose="020B0502040204020203" pitchFamily="34" charset="0"/>
            </a:endParaRPr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50270CE1-143D-A5AE-861E-5DA0B71327EC}"/>
              </a:ext>
            </a:extLst>
          </p:cNvPr>
          <p:cNvSpPr txBox="1"/>
          <p:nvPr/>
        </p:nvSpPr>
        <p:spPr>
          <a:xfrm>
            <a:off x="611443" y="1997839"/>
            <a:ext cx="3867913" cy="28623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altLang="zh-TW" dirty="0" err="1"/>
              <a:t>self.step_size</a:t>
            </a:r>
            <a:r>
              <a:rPr lang="en-US" altLang="zh-TW" dirty="0"/>
              <a:t> = 0.06</a:t>
            </a:r>
          </a:p>
          <a:p>
            <a:r>
              <a:rPr lang="en-US" altLang="zh-TW" dirty="0" err="1"/>
              <a:t>self.reverse_penalty</a:t>
            </a:r>
            <a:r>
              <a:rPr lang="en-US" altLang="zh-TW" dirty="0"/>
              <a:t> = 0.3</a:t>
            </a:r>
          </a:p>
          <a:p>
            <a:r>
              <a:rPr lang="en-US" altLang="zh-TW" b="1" dirty="0" err="1">
                <a:solidFill>
                  <a:srgbClr val="00B0F0"/>
                </a:solidFill>
              </a:rPr>
              <a:t>self.change_dir_penalty</a:t>
            </a:r>
            <a:r>
              <a:rPr lang="en-US" altLang="zh-TW" b="1" dirty="0">
                <a:solidFill>
                  <a:srgbClr val="00B0F0"/>
                </a:solidFill>
              </a:rPr>
              <a:t> = 0.1</a:t>
            </a:r>
          </a:p>
          <a:p>
            <a:r>
              <a:rPr lang="en-US" altLang="zh-TW" dirty="0" err="1"/>
              <a:t>self.steering_penalty</a:t>
            </a:r>
            <a:r>
              <a:rPr lang="en-US" altLang="zh-TW" dirty="0"/>
              <a:t> = 0.1</a:t>
            </a:r>
          </a:p>
          <a:p>
            <a:r>
              <a:rPr lang="zh-TW" altLang="zh-TW" b="1" dirty="0">
                <a:solidFill>
                  <a:srgbClr val="00B0F0"/>
                </a:solidFill>
              </a:rPr>
              <a:t>dist &lt; </a:t>
            </a:r>
            <a:r>
              <a:rPr lang="en-US" altLang="zh-TW" b="1" dirty="0">
                <a:solidFill>
                  <a:srgbClr val="00B0F0"/>
                </a:solidFill>
              </a:rPr>
              <a:t>1.0 </a:t>
            </a:r>
            <a:r>
              <a:rPr lang="zh-TW" altLang="zh-TW" dirty="0"/>
              <a:t>and angle_diff &lt; np.radians(45)</a:t>
            </a:r>
            <a:r>
              <a:rPr lang="en-US" altLang="zh-TW" dirty="0"/>
              <a:t> </a:t>
            </a:r>
            <a:r>
              <a:rPr lang="zh-TW" altLang="zh-TW" dirty="0"/>
              <a:t>and goal_angle_diff &lt; np.radians(45)</a:t>
            </a:r>
          </a:p>
          <a:p>
            <a:r>
              <a:rPr lang="zh-TW" altLang="zh-TW" dirty="0"/>
              <a:t>self.costmap.add_obstacle(x=0.</a:t>
            </a:r>
            <a:r>
              <a:rPr lang="en-US" altLang="zh-TW" dirty="0"/>
              <a:t>9</a:t>
            </a:r>
            <a:r>
              <a:rPr lang="zh-TW" altLang="zh-TW" dirty="0"/>
              <a:t>, y=0.1, radius=0.2, inflation_radius=0.35)</a:t>
            </a:r>
          </a:p>
        </p:txBody>
      </p:sp>
      <p:pic>
        <p:nvPicPr>
          <p:cNvPr id="9" name="圖片 8">
            <a:extLst>
              <a:ext uri="{FF2B5EF4-FFF2-40B4-BE49-F238E27FC236}">
                <a16:creationId xmlns:a16="http://schemas.microsoft.com/office/drawing/2014/main" id="{39EDFBC6-0CBF-0FB0-FD4A-0C0587FFAEA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56387" y="684039"/>
            <a:ext cx="6762800" cy="55645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4512377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石板">
  <a:themeElements>
    <a:clrScheme name="石板">
      <a:dk1>
        <a:sysClr val="windowText" lastClr="000000"/>
      </a:dk1>
      <a:lt1>
        <a:sysClr val="window" lastClr="FFFFFF"/>
      </a:lt1>
      <a:dk2>
        <a:srgbClr val="212123"/>
      </a:dk2>
      <a:lt2>
        <a:srgbClr val="DADADA"/>
      </a:lt2>
      <a:accent1>
        <a:srgbClr val="BC451B"/>
      </a:accent1>
      <a:accent2>
        <a:srgbClr val="D3BA68"/>
      </a:accent2>
      <a:accent3>
        <a:srgbClr val="BB8640"/>
      </a:accent3>
      <a:accent4>
        <a:srgbClr val="AD9277"/>
      </a:accent4>
      <a:accent5>
        <a:srgbClr val="A55A43"/>
      </a:accent5>
      <a:accent6>
        <a:srgbClr val="AD9D7B"/>
      </a:accent6>
      <a:hlink>
        <a:srgbClr val="E98052"/>
      </a:hlink>
      <a:folHlink>
        <a:srgbClr val="F4B69B"/>
      </a:folHlink>
    </a:clrScheme>
    <a:fontScheme name="石板">
      <a:majorFont>
        <a:latin typeface="Calisto MT" panose="02040603050505030304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alisto MT" panose="02040603050505030304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石板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0000"/>
                <a:lumMod val="90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63500" dist="25400" dir="5400000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76200" dist="38100" dir="5400000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hardEdge"/>
          </a:sp3d>
        </a:effectStyle>
      </a:effectStyleLst>
      <a:bgFillStyleLst>
        <a:solidFill>
          <a:schemeClr val="phClr"/>
        </a:solidFill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shade val="80000"/>
                <a:lumMod val="80000"/>
              </a:schemeClr>
              <a:schemeClr val="phClr">
                <a:tint val="98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ate" id="{C3F70B94-7CE9-428E-ADC1-3269CC2C3385}" vid="{3F2DE9A5-64E6-437C-A389-CC4477E817E8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TM04033929[[fn=石板]]</Template>
  <TotalTime>9260</TotalTime>
  <Words>1017</Words>
  <Application>Microsoft Office PowerPoint</Application>
  <PresentationFormat>寬螢幕</PresentationFormat>
  <Paragraphs>92</Paragraphs>
  <Slides>13</Slides>
  <Notes>13</Notes>
  <HiddenSlides>0</HiddenSlides>
  <MMClips>0</MMClips>
  <ScaleCrop>false</ScaleCrop>
  <HeadingPairs>
    <vt:vector size="6" baseType="variant">
      <vt:variant>
        <vt:lpstr>使用字型</vt:lpstr>
      </vt:variant>
      <vt:variant>
        <vt:i4>4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13</vt:i4>
      </vt:variant>
    </vt:vector>
  </HeadingPairs>
  <TitlesOfParts>
    <vt:vector size="18" baseType="lpstr">
      <vt:lpstr>微軟正黑體</vt:lpstr>
      <vt:lpstr>Aptos</vt:lpstr>
      <vt:lpstr>Calisto MT</vt:lpstr>
      <vt:lpstr>Wingdings 2</vt:lpstr>
      <vt:lpstr>石板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HP</dc:creator>
  <cp:lastModifiedBy>WeiJieChen(陳偉杰)</cp:lastModifiedBy>
  <cp:revision>1026</cp:revision>
  <dcterms:created xsi:type="dcterms:W3CDTF">2026-05-11T05:46:35Z</dcterms:created>
  <dcterms:modified xsi:type="dcterms:W3CDTF">2026-09-28T09:37:58Z</dcterms:modified>
</cp:coreProperties>
</file>